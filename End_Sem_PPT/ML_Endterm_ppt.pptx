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embeddedFontLst>
    <p:embeddedFont>
      <p:font typeface="Helvetica Neue"/>
      <p:regular r:id="rId31"/>
      <p:bold r:id="rId32"/>
      <p:italic r:id="rId33"/>
      <p:boldItalic r:id="rId34"/>
    </p:embeddedFont>
    <p:embeddedFont>
      <p:font typeface="Helvetica Neue Light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jYE0wGH76JS/Hjqas+N56u8jCg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1012E09-EC1A-417B-9EBB-57A7D2FA0C0C}">
  <a:tblStyle styleId="{21012E09-EC1A-417B-9EBB-57A7D2FA0C0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HelveticaNeue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HelveticaNeue-italic.fntdata"/><Relationship Id="rId10" Type="http://schemas.openxmlformats.org/officeDocument/2006/relationships/slide" Target="slides/slide5.xml"/><Relationship Id="rId32" Type="http://schemas.openxmlformats.org/officeDocument/2006/relationships/font" Target="fonts/HelveticaNeue-bold.fntdata"/><Relationship Id="rId13" Type="http://schemas.openxmlformats.org/officeDocument/2006/relationships/slide" Target="slides/slide8.xml"/><Relationship Id="rId35" Type="http://schemas.openxmlformats.org/officeDocument/2006/relationships/font" Target="fonts/HelveticaNeueLight-regular.fntdata"/><Relationship Id="rId12" Type="http://schemas.openxmlformats.org/officeDocument/2006/relationships/slide" Target="slides/slide7.xml"/><Relationship Id="rId34" Type="http://schemas.openxmlformats.org/officeDocument/2006/relationships/font" Target="fonts/HelveticaNeue-boldItalic.fntdata"/><Relationship Id="rId15" Type="http://schemas.openxmlformats.org/officeDocument/2006/relationships/slide" Target="slides/slide10.xml"/><Relationship Id="rId37" Type="http://schemas.openxmlformats.org/officeDocument/2006/relationships/font" Target="fonts/HelveticaNeueLight-italic.fntdata"/><Relationship Id="rId14" Type="http://schemas.openxmlformats.org/officeDocument/2006/relationships/slide" Target="slides/slide9.xml"/><Relationship Id="rId36" Type="http://schemas.openxmlformats.org/officeDocument/2006/relationships/font" Target="fonts/HelveticaNeueLight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HelveticaNeueLight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c3ff8a06b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g2c3ff8a06be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358eca5d40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g3358eca5d40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4b35ae2376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g34b35ae2376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b5e2d1407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g34b5e2d1407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4b5e2d1407_2_169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g34b5e2d1407_2_16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4e9aff8091_1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4e9aff8091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4b5e2d1407_0_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g34b5e2d1407_0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4b5e2d1407_0_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g34b5e2d1407_0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4e953dede9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g34e953dede9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4e953dede9_0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g34e953dede9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4e953dede9_0_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g34e953dede9_0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4e953dede9_0_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g34e953dede9_0_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4e953dede9_0_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g34e953dede9_0_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4e953dede9_0_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g34e953dede9_0_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4e953dede9_0_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g34e953dede9_0_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4e953dede9_0_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g34e953dede9_0_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4e953dede9_0_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g34e953dede9_0_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4b919017b4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g34b919017b4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4b5e2d1407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8" name="Google Shape;318;g34b5e2d1407_1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4b87b13e54_0_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g34b87b13e54_0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4b87b13e54_0_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g34b87b13e54_0_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642a7d87_3_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642a7d87_3_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2"/>
          <p:cNvSpPr txBox="1"/>
          <p:nvPr>
            <p:ph type="title"/>
          </p:nvPr>
        </p:nvSpPr>
        <p:spPr>
          <a:xfrm>
            <a:off x="844150" y="3874808"/>
            <a:ext cx="10515601" cy="8354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rgbClr val="F2F1EE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13"/>
          <p:cNvGrpSpPr/>
          <p:nvPr/>
        </p:nvGrpSpPr>
        <p:grpSpPr>
          <a:xfrm>
            <a:off x="-2" y="6756400"/>
            <a:ext cx="12192004" cy="105497"/>
            <a:chOff x="-1" y="0"/>
            <a:chExt cx="12192002" cy="105496"/>
          </a:xfrm>
        </p:grpSpPr>
        <p:pic>
          <p:nvPicPr>
            <p:cNvPr descr="Picture 8" id="19" name="Google Shape;19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000" y="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20" name="Google Shape;20;p13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-1" y="0"/>
              <a:ext cx="2598718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21" name="Google Shape;21;p13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9593283" y="0"/>
              <a:ext cx="2598718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13"/>
          <p:cNvSpPr txBox="1"/>
          <p:nvPr>
            <p:ph type="title"/>
          </p:nvPr>
        </p:nvSpPr>
        <p:spPr>
          <a:xfrm>
            <a:off x="594303" y="266700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sz="4000">
                <a:solidFill>
                  <a:srgbClr val="000000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582426" y="1768949"/>
            <a:ext cx="10515601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Char char="•"/>
              <a:defRPr sz="2400"/>
            </a:lvl1pPr>
            <a:lvl2pPr indent="-3810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Char char="•"/>
              <a:defRPr sz="2400"/>
            </a:lvl2pPr>
            <a:lvl3pPr indent="-3810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Char char="•"/>
              <a:defRPr sz="2400"/>
            </a:lvl3pPr>
            <a:lvl4pPr indent="-3810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11080189" y="6338767"/>
            <a:ext cx="273610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Picture 16" id="25" name="Google Shape;25;p13"/>
          <p:cNvPicPr preferRelativeResize="0"/>
          <p:nvPr/>
        </p:nvPicPr>
        <p:blipFill rotWithShape="1">
          <a:blip r:embed="rId3">
            <a:alphaModFix/>
          </a:blip>
          <a:srcRect b="38396" l="29654" r="29479" t="38312"/>
          <a:stretch/>
        </p:blipFill>
        <p:spPr>
          <a:xfrm>
            <a:off x="358813" y="6038947"/>
            <a:ext cx="1365813" cy="598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bg>
      <p:bgPr>
        <a:solidFill>
          <a:srgbClr val="F2F1EE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14"/>
          <p:cNvGrpSpPr/>
          <p:nvPr/>
        </p:nvGrpSpPr>
        <p:grpSpPr>
          <a:xfrm>
            <a:off x="-2" y="6756400"/>
            <a:ext cx="12192004" cy="105497"/>
            <a:chOff x="-1" y="0"/>
            <a:chExt cx="12192002" cy="105496"/>
          </a:xfrm>
        </p:grpSpPr>
        <p:pic>
          <p:nvPicPr>
            <p:cNvPr descr="Picture 8" id="28" name="Google Shape;28;p1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000" y="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29" name="Google Shape;29;p14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-1" y="0"/>
              <a:ext cx="2598718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30" name="Google Shape;30;p14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9593283" y="0"/>
              <a:ext cx="2598718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5400"/>
              <a:buFont typeface="Helvetica Neue"/>
              <a:buNone/>
              <a:defRPr sz="5400">
                <a:solidFill>
                  <a:srgbClr val="7D1916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" type="body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2" type="sldNum"/>
          </p:nvPr>
        </p:nvSpPr>
        <p:spPr>
          <a:xfrm>
            <a:off x="11080189" y="6338767"/>
            <a:ext cx="273610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Picture 16" id="34" name="Google Shape;34;p14"/>
          <p:cNvPicPr preferRelativeResize="0"/>
          <p:nvPr/>
        </p:nvPicPr>
        <p:blipFill rotWithShape="1">
          <a:blip r:embed="rId3">
            <a:alphaModFix/>
          </a:blip>
          <a:srcRect b="38396" l="29654" r="29479" t="38312"/>
          <a:stretch/>
        </p:blipFill>
        <p:spPr>
          <a:xfrm>
            <a:off x="358813" y="6038947"/>
            <a:ext cx="1365813" cy="598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rgbClr val="F2F1EE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oogle Shape;36;p15"/>
          <p:cNvGrpSpPr/>
          <p:nvPr/>
        </p:nvGrpSpPr>
        <p:grpSpPr>
          <a:xfrm>
            <a:off x="-2" y="6756400"/>
            <a:ext cx="12192004" cy="105497"/>
            <a:chOff x="-1" y="0"/>
            <a:chExt cx="12192002" cy="105496"/>
          </a:xfrm>
        </p:grpSpPr>
        <p:pic>
          <p:nvPicPr>
            <p:cNvPr descr="Picture 8" id="37" name="Google Shape;37;p1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000" y="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38" name="Google Shape;38;p15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-1" y="0"/>
              <a:ext cx="2598718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39" name="Google Shape;39;p15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9593283" y="0"/>
              <a:ext cx="2598718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" name="Google Shape;4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sz="4000">
                <a:solidFill>
                  <a:srgbClr val="000000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2" type="sldNum"/>
          </p:nvPr>
        </p:nvSpPr>
        <p:spPr>
          <a:xfrm>
            <a:off x="11080189" y="6338767"/>
            <a:ext cx="273610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Picture 12" id="43" name="Google Shape;43;p15"/>
          <p:cNvPicPr preferRelativeResize="0"/>
          <p:nvPr/>
        </p:nvPicPr>
        <p:blipFill rotWithShape="1">
          <a:blip r:embed="rId3">
            <a:alphaModFix/>
          </a:blip>
          <a:srcRect b="38396" l="29654" r="29479" t="38312"/>
          <a:stretch/>
        </p:blipFill>
        <p:spPr>
          <a:xfrm>
            <a:off x="358813" y="6038947"/>
            <a:ext cx="1365813" cy="598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>
  <p:cSld name="Comparison">
    <p:bg>
      <p:bgPr>
        <a:solidFill>
          <a:srgbClr val="F2F1EE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16"/>
          <p:cNvGrpSpPr/>
          <p:nvPr/>
        </p:nvGrpSpPr>
        <p:grpSpPr>
          <a:xfrm>
            <a:off x="-2" y="6756400"/>
            <a:ext cx="12192004" cy="105497"/>
            <a:chOff x="-1" y="0"/>
            <a:chExt cx="12192002" cy="105496"/>
          </a:xfrm>
        </p:grpSpPr>
        <p:pic>
          <p:nvPicPr>
            <p:cNvPr descr="Picture 8" id="46" name="Google Shape;46;p1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000" y="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47" name="Google Shape;47;p16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-1" y="0"/>
              <a:ext cx="2598718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48" name="Google Shape;48;p16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9593283" y="0"/>
              <a:ext cx="2598718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" name="Google Shape;49;p16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sz="4000">
                <a:solidFill>
                  <a:srgbClr val="000000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9pPr>
          </a:lstStyle>
          <a:p/>
        </p:txBody>
      </p:sp>
      <p:sp>
        <p:nvSpPr>
          <p:cNvPr id="50" name="Google Shape;50;p16"/>
          <p:cNvSpPr txBox="1"/>
          <p:nvPr>
            <p:ph idx="1" type="body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2" type="body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2" type="sldNum"/>
          </p:nvPr>
        </p:nvSpPr>
        <p:spPr>
          <a:xfrm>
            <a:off x="11080189" y="6338767"/>
            <a:ext cx="273610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Picture 8" id="53" name="Google Shape;53;p16"/>
          <p:cNvPicPr preferRelativeResize="0"/>
          <p:nvPr/>
        </p:nvPicPr>
        <p:blipFill rotWithShape="1">
          <a:blip r:embed="rId3">
            <a:alphaModFix/>
          </a:blip>
          <a:srcRect b="38396" l="29654" r="29479" t="38312"/>
          <a:stretch/>
        </p:blipFill>
        <p:spPr>
          <a:xfrm>
            <a:off x="358813" y="6038947"/>
            <a:ext cx="1365813" cy="598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rgbClr val="F2F1EE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7"/>
          <p:cNvGrpSpPr/>
          <p:nvPr/>
        </p:nvGrpSpPr>
        <p:grpSpPr>
          <a:xfrm>
            <a:off x="-2" y="6756400"/>
            <a:ext cx="12192004" cy="105497"/>
            <a:chOff x="-1" y="0"/>
            <a:chExt cx="12192002" cy="105496"/>
          </a:xfrm>
        </p:grpSpPr>
        <p:pic>
          <p:nvPicPr>
            <p:cNvPr descr="Picture 8" id="56" name="Google Shape;56;p1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000" y="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57" name="Google Shape;57;p17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-1" y="0"/>
              <a:ext cx="2598718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58" name="Google Shape;58;p17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9593283" y="0"/>
              <a:ext cx="2598718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" name="Google Shape;5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sz="4000">
                <a:solidFill>
                  <a:srgbClr val="000000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11080189" y="6338767"/>
            <a:ext cx="273610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Picture 4" id="61" name="Google Shape;61;p17"/>
          <p:cNvPicPr preferRelativeResize="0"/>
          <p:nvPr/>
        </p:nvPicPr>
        <p:blipFill rotWithShape="1">
          <a:blip r:embed="rId3">
            <a:alphaModFix/>
          </a:blip>
          <a:srcRect b="38396" l="29654" r="29479" t="38312"/>
          <a:stretch/>
        </p:blipFill>
        <p:spPr>
          <a:xfrm>
            <a:off x="358813" y="6038947"/>
            <a:ext cx="1365813" cy="598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rgbClr val="F2F1EE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8"/>
          <p:cNvGrpSpPr/>
          <p:nvPr/>
        </p:nvGrpSpPr>
        <p:grpSpPr>
          <a:xfrm>
            <a:off x="-2" y="6756400"/>
            <a:ext cx="12192004" cy="105497"/>
            <a:chOff x="-1" y="0"/>
            <a:chExt cx="12192002" cy="105496"/>
          </a:xfrm>
        </p:grpSpPr>
        <p:pic>
          <p:nvPicPr>
            <p:cNvPr descr="Picture 8" id="64" name="Google Shape;64;p1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000" y="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65" name="Google Shape;65;p18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-1" y="0"/>
              <a:ext cx="2598718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66" name="Google Shape;66;p18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9593283" y="0"/>
              <a:ext cx="2598718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11080189" y="6338767"/>
            <a:ext cx="273610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Picture 3" id="68" name="Google Shape;68;p18"/>
          <p:cNvPicPr preferRelativeResize="0"/>
          <p:nvPr/>
        </p:nvPicPr>
        <p:blipFill rotWithShape="1">
          <a:blip r:embed="rId3">
            <a:alphaModFix/>
          </a:blip>
          <a:srcRect b="38396" l="29654" r="29479" t="38312"/>
          <a:stretch/>
        </p:blipFill>
        <p:spPr>
          <a:xfrm>
            <a:off x="358813" y="6038947"/>
            <a:ext cx="1365813" cy="598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>
  <p:cSld name="Content with Caption">
    <p:bg>
      <p:bgPr>
        <a:solidFill>
          <a:srgbClr val="F2F1EE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9"/>
          <p:cNvGrpSpPr/>
          <p:nvPr/>
        </p:nvGrpSpPr>
        <p:grpSpPr>
          <a:xfrm>
            <a:off x="-2" y="6756400"/>
            <a:ext cx="12192004" cy="105497"/>
            <a:chOff x="-1" y="0"/>
            <a:chExt cx="12192002" cy="105496"/>
          </a:xfrm>
        </p:grpSpPr>
        <p:pic>
          <p:nvPicPr>
            <p:cNvPr descr="Picture 8" id="71" name="Google Shape;71;p1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000" y="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72" name="Google Shape;72;p19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-1" y="0"/>
              <a:ext cx="2598718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73" name="Google Shape;73;p19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9593283" y="0"/>
              <a:ext cx="2598718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" name="Google Shape;74;p19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>
                <a:solidFill>
                  <a:srgbClr val="000000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Char char="•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Char char="•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Char char="•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Char char="•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Char char="•"/>
              <a:defRPr sz="32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2" type="body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11080189" y="6338767"/>
            <a:ext cx="273610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Picture 6" id="78" name="Google Shape;78;p19"/>
          <p:cNvPicPr preferRelativeResize="0"/>
          <p:nvPr/>
        </p:nvPicPr>
        <p:blipFill rotWithShape="1">
          <a:blip r:embed="rId3">
            <a:alphaModFix/>
          </a:blip>
          <a:srcRect b="38396" l="29654" r="29479" t="38312"/>
          <a:stretch/>
        </p:blipFill>
        <p:spPr>
          <a:xfrm>
            <a:off x="358813" y="6038947"/>
            <a:ext cx="1365813" cy="598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>
  <p:cSld name="Picture with Caption">
    <p:bg>
      <p:bgPr>
        <a:solidFill>
          <a:srgbClr val="F2F1EE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20"/>
          <p:cNvGrpSpPr/>
          <p:nvPr/>
        </p:nvGrpSpPr>
        <p:grpSpPr>
          <a:xfrm>
            <a:off x="-2" y="6756400"/>
            <a:ext cx="12192004" cy="105497"/>
            <a:chOff x="-1" y="0"/>
            <a:chExt cx="12192002" cy="105496"/>
          </a:xfrm>
        </p:grpSpPr>
        <p:pic>
          <p:nvPicPr>
            <p:cNvPr descr="Picture 8" id="81" name="Google Shape;81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000" y="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82" name="Google Shape;82;p20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-1" y="0"/>
              <a:ext cx="2598718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83" name="Google Shape;83;p20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9593283" y="0"/>
              <a:ext cx="2598718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4" name="Google Shape;84;p20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>
                <a:solidFill>
                  <a:srgbClr val="000000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9pPr>
          </a:lstStyle>
          <a:p/>
        </p:txBody>
      </p:sp>
      <p:sp>
        <p:nvSpPr>
          <p:cNvPr id="85" name="Google Shape;85;p20"/>
          <p:cNvSpPr/>
          <p:nvPr>
            <p:ph idx="2" type="pic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20"/>
          <p:cNvSpPr txBox="1"/>
          <p:nvPr>
            <p:ph idx="1" type="body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 Light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 Light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 Light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 Light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0"/>
          <p:cNvSpPr txBox="1"/>
          <p:nvPr>
            <p:ph idx="12" type="sldNum"/>
          </p:nvPr>
        </p:nvSpPr>
        <p:spPr>
          <a:xfrm>
            <a:off x="11080189" y="6338767"/>
            <a:ext cx="273610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Picture 6" id="88" name="Google Shape;88;p20"/>
          <p:cNvPicPr preferRelativeResize="0"/>
          <p:nvPr/>
        </p:nvPicPr>
        <p:blipFill rotWithShape="1">
          <a:blip r:embed="rId3">
            <a:alphaModFix/>
          </a:blip>
          <a:srcRect b="38396" l="29654" r="29479" t="38312"/>
          <a:stretch/>
        </p:blipFill>
        <p:spPr>
          <a:xfrm>
            <a:off x="358813" y="6038947"/>
            <a:ext cx="1365813" cy="598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01B19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1"/>
          <p:cNvGrpSpPr/>
          <p:nvPr/>
        </p:nvGrpSpPr>
        <p:grpSpPr>
          <a:xfrm>
            <a:off x="-2" y="6756400"/>
            <a:ext cx="12192004" cy="105497"/>
            <a:chOff x="-1" y="0"/>
            <a:chExt cx="12192002" cy="105496"/>
          </a:xfrm>
        </p:grpSpPr>
        <p:pic>
          <p:nvPicPr>
            <p:cNvPr descr="Picture 8" id="7" name="Google Shape;7;p11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8" name="Google Shape;8;p11"/>
            <p:cNvPicPr preferRelativeResize="0"/>
            <p:nvPr/>
          </p:nvPicPr>
          <p:blipFill rotWithShape="1">
            <a:blip r:embed="rId1">
              <a:alphaModFix/>
            </a:blip>
            <a:srcRect b="15583" l="0" r="71580" t="0"/>
            <a:stretch/>
          </p:blipFill>
          <p:spPr>
            <a:xfrm>
              <a:off x="-1" y="0"/>
              <a:ext cx="2598718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9" name="Google Shape;9;p11"/>
            <p:cNvPicPr preferRelativeResize="0"/>
            <p:nvPr/>
          </p:nvPicPr>
          <p:blipFill rotWithShape="1">
            <a:blip r:embed="rId1">
              <a:alphaModFix/>
            </a:blip>
            <a:srcRect b="15583" l="0" r="71580" t="0"/>
            <a:stretch/>
          </p:blipFill>
          <p:spPr>
            <a:xfrm>
              <a:off x="9593283" y="0"/>
              <a:ext cx="2598718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" name="Google Shape;10;p11"/>
          <p:cNvSpPr txBox="1"/>
          <p:nvPr>
            <p:ph type="title"/>
          </p:nvPr>
        </p:nvSpPr>
        <p:spPr>
          <a:xfrm>
            <a:off x="844150" y="3874808"/>
            <a:ext cx="10515601" cy="8354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400"/>
              <a:buFont typeface="Helvetica Neue"/>
              <a:buNone/>
              <a:defRPr b="1" i="0" sz="3400" u="none" cap="none" strike="noStrike">
                <a:solidFill>
                  <a:srgbClr val="FEFEF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400"/>
              <a:buFont typeface="Helvetica Neue"/>
              <a:buNone/>
              <a:defRPr b="1" i="0" sz="3400" u="none" cap="none" strike="noStrike">
                <a:solidFill>
                  <a:srgbClr val="FEFEF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400"/>
              <a:buFont typeface="Helvetica Neue"/>
              <a:buNone/>
              <a:defRPr b="1" i="0" sz="3400" u="none" cap="none" strike="noStrike">
                <a:solidFill>
                  <a:srgbClr val="FEFEF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400"/>
              <a:buFont typeface="Helvetica Neue"/>
              <a:buNone/>
              <a:defRPr b="1" i="0" sz="3400" u="none" cap="none" strike="noStrike">
                <a:solidFill>
                  <a:srgbClr val="FEFEF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400"/>
              <a:buFont typeface="Helvetica Neue"/>
              <a:buNone/>
              <a:defRPr b="1" i="0" sz="3400" u="none" cap="none" strike="noStrike">
                <a:solidFill>
                  <a:srgbClr val="FEFEF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400"/>
              <a:buFont typeface="Helvetica Neue"/>
              <a:buNone/>
              <a:defRPr b="1" i="0" sz="3400" u="none" cap="none" strike="noStrike">
                <a:solidFill>
                  <a:srgbClr val="FEFEF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400"/>
              <a:buFont typeface="Helvetica Neue"/>
              <a:buNone/>
              <a:defRPr b="1" i="0" sz="3400" u="none" cap="none" strike="noStrike">
                <a:solidFill>
                  <a:srgbClr val="FEFEF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400"/>
              <a:buFont typeface="Helvetica Neue"/>
              <a:buNone/>
              <a:defRPr b="1" i="0" sz="3400" u="none" cap="none" strike="noStrike">
                <a:solidFill>
                  <a:srgbClr val="FEFEF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400"/>
              <a:buFont typeface="Helvetica Neue"/>
              <a:buNone/>
              <a:defRPr b="1" i="0" sz="3400" u="none" cap="none" strike="noStrike">
                <a:solidFill>
                  <a:srgbClr val="FEFEF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pic>
        <p:nvPicPr>
          <p:cNvPr descr="Picture 4" id="11" name="Google Shape;1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2931" y="1479396"/>
            <a:ext cx="4106138" cy="1347722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1"/>
          <p:cNvSpPr txBox="1"/>
          <p:nvPr>
            <p:ph idx="1"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2" type="sldNum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ieeexplore.ieee.org/abstract/document/9690164/" TargetMode="External"/><Relationship Id="rId4" Type="http://schemas.openxmlformats.org/officeDocument/2006/relationships/hyperlink" Target="https://doi.org/10.1038/s41598-024-51658-8" TargetMode="External"/><Relationship Id="rId5" Type="http://schemas.openxmlformats.org/officeDocument/2006/relationships/hyperlink" Target="https://ieeexplore.ieee.org/abstract/document/9892583/?casa_token=Ye3GQJ1JpD0AAAAA:GSlyds24pIa__7Od6UBSNs8nugbEwLvCbI8vG6w-YMYrFX2O-TUlUDo4xej3ulJUAvmO_4ij0J36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oi.org/10.1002/mpr.329" TargetMode="External"/><Relationship Id="rId4" Type="http://schemas.openxmlformats.org/officeDocument/2006/relationships/hyperlink" Target="https://shap.readthedocs.io/en/latest/example_notebooks/overviews/An%20introduction%20to%20explainable%20AI%20with%20Shapley%20values.html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plotly.com/python/radar-chart/" TargetMode="External"/><Relationship Id="rId4" Type="http://schemas.openxmlformats.org/officeDocument/2006/relationships/hyperlink" Target="https://lime.readthedocs.io/en/latest/" TargetMode="External"/><Relationship Id="rId5" Type="http://schemas.openxmlformats.org/officeDocument/2006/relationships/hyperlink" Target="https://scikit-learn.org/stable/modules/generated/sklearn.feature_selection.RFE.html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>
            <p:ph type="title"/>
          </p:nvPr>
        </p:nvSpPr>
        <p:spPr>
          <a:xfrm>
            <a:off x="838200" y="3090223"/>
            <a:ext cx="10515600" cy="8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60"/>
              <a:buFont typeface="Helvetica Neue"/>
              <a:buNone/>
            </a:pPr>
            <a:r>
              <a:rPr lang="en-US" sz="2500"/>
              <a:t>CSE623 Machine Learning Theory and Practice</a:t>
            </a:r>
            <a:br>
              <a:rPr lang="en-US" sz="2500"/>
            </a:br>
            <a:r>
              <a:rPr lang="en-US" sz="2500"/>
              <a:t>TheOverFitters</a:t>
            </a:r>
            <a:endParaRPr sz="25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60"/>
              <a:buFont typeface="Helvetica Neue"/>
              <a:buNone/>
            </a:pPr>
            <a:r>
              <a:t/>
            </a:r>
            <a:endParaRPr sz="276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60"/>
              <a:buFont typeface="Helvetica Neue"/>
              <a:buNone/>
            </a:pPr>
            <a:r>
              <a:t/>
            </a:r>
            <a:endParaRPr sz="2760"/>
          </a:p>
        </p:txBody>
      </p:sp>
      <p:sp>
        <p:nvSpPr>
          <p:cNvPr id="94" name="Google Shape;94;p1"/>
          <p:cNvSpPr txBox="1"/>
          <p:nvPr>
            <p:ph type="title"/>
          </p:nvPr>
        </p:nvSpPr>
        <p:spPr>
          <a:xfrm>
            <a:off x="792900" y="4061975"/>
            <a:ext cx="10606200" cy="8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60"/>
              <a:buFont typeface="Helvetica Neue"/>
              <a:buNone/>
            </a:pPr>
            <a:r>
              <a:rPr lang="en-US" sz="2200"/>
              <a:t>Modelling and Prediction of Athlete Readiness based on Sleep and Recovery Patterns</a:t>
            </a:r>
            <a:endParaRPr sz="2200"/>
          </a:p>
        </p:txBody>
      </p:sp>
      <p:sp>
        <p:nvSpPr>
          <p:cNvPr id="95" name="Google Shape;95;p1"/>
          <p:cNvSpPr txBox="1"/>
          <p:nvPr/>
        </p:nvSpPr>
        <p:spPr>
          <a:xfrm>
            <a:off x="1200541" y="5676625"/>
            <a:ext cx="1758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2F1E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Btech. CSE, </a:t>
            </a:r>
            <a:br>
              <a:rPr b="0" i="0" lang="en-US" sz="1400" u="none" cap="none" strike="noStrike">
                <a:solidFill>
                  <a:srgbClr val="F2F1E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b="0" i="0" lang="en-US" sz="1400" u="none" cap="none" strike="noStrike">
                <a:solidFill>
                  <a:srgbClr val="F2F1E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School of Engineering and Applied Sciences</a:t>
            </a:r>
            <a:endParaRPr b="0" i="0" sz="2100" u="none" cap="none" strike="noStrike">
              <a:solidFill>
                <a:srgbClr val="F2F1E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921241" y="5042575"/>
            <a:ext cx="22800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i="0" lang="en-US" sz="1600" u="none" cap="none" strike="noStrike">
                <a:solidFill>
                  <a:srgbClr val="FEFEF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Rahil Patel</a:t>
            </a:r>
            <a:br>
              <a:rPr b="1" i="0" lang="en-US" sz="1600" u="none" cap="none" strike="noStrike">
                <a:solidFill>
                  <a:srgbClr val="FEFEFE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1" i="0" lang="en-US" sz="1600" u="none" cap="none" strike="noStrike">
                <a:solidFill>
                  <a:srgbClr val="FEFEFE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600" u="none" cap="none" strike="noStrike">
                <a:solidFill>
                  <a:srgbClr val="FEFEF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AU224021</a:t>
            </a:r>
            <a:r>
              <a:rPr b="1" lang="en-US" sz="1600">
                <a:solidFill>
                  <a:srgbClr val="FEFEF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b="1" i="0" sz="1600" u="none" cap="none" strike="noStrike">
              <a:solidFill>
                <a:srgbClr val="FEFEF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FEFEF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3231858" y="5676625"/>
            <a:ext cx="1758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2F1E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Btech. CSE, </a:t>
            </a:r>
            <a:br>
              <a:rPr b="0" i="0" lang="en-US" sz="1400" u="none" cap="none" strike="noStrike">
                <a:solidFill>
                  <a:srgbClr val="F2F1E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b="0" i="0" lang="en-US" sz="1400" u="none" cap="none" strike="noStrike">
                <a:solidFill>
                  <a:srgbClr val="F2F1E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School of Engineering and Applied Sciences</a:t>
            </a:r>
            <a:endParaRPr b="0" i="0" sz="2100" u="none" cap="none" strike="noStrike">
              <a:solidFill>
                <a:srgbClr val="F2F1E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2952558" y="5033713"/>
            <a:ext cx="22800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i="0" lang="en-US" sz="1600" u="none" cap="none" strike="noStrike">
                <a:solidFill>
                  <a:srgbClr val="FEFEF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Yash Smart</a:t>
            </a:r>
            <a:br>
              <a:rPr b="1" i="0" lang="en-US" sz="1600" u="none" cap="none" strike="noStrike">
                <a:solidFill>
                  <a:srgbClr val="FEFEFE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1" i="0" lang="en-US" sz="1600" u="none" cap="none" strike="noStrike">
                <a:solidFill>
                  <a:srgbClr val="FEFEFE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600" u="none" cap="none" strike="noStrike">
                <a:solidFill>
                  <a:srgbClr val="FEFEF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AU2240076</a:t>
            </a:r>
            <a:endParaRPr b="1" i="0" sz="1600" u="none" cap="none" strike="noStrike">
              <a:solidFill>
                <a:srgbClr val="FEFEF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FEFEF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5020775" y="5676625"/>
            <a:ext cx="1758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2F1E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Btech. CSE, </a:t>
            </a:r>
            <a:br>
              <a:rPr b="0" i="0" lang="en-US" sz="1400" u="none" cap="none" strike="noStrike">
                <a:solidFill>
                  <a:srgbClr val="F2F1E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b="0" i="0" lang="en-US" sz="1400" u="none" cap="none" strike="noStrike">
                <a:solidFill>
                  <a:srgbClr val="F2F1E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School of Engineering and Applied Sciences</a:t>
            </a:r>
            <a:endParaRPr b="0" i="0" sz="2100" u="none" cap="none" strike="noStrike">
              <a:solidFill>
                <a:srgbClr val="F2F1E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4719600" y="5033713"/>
            <a:ext cx="22800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rPr b="1" i="0" lang="en-US" sz="1600" u="none" cap="none" strike="noStrike">
                <a:solidFill>
                  <a:srgbClr val="FEFEF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Prem Patel</a:t>
            </a:r>
            <a:br>
              <a:rPr b="1" i="0" lang="en-US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1" i="0" lang="en-US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AU2240010</a:t>
            </a:r>
            <a:endParaRPr b="1" i="0" sz="16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7118400" y="5658925"/>
            <a:ext cx="1758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2F1E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Btech. CSE, </a:t>
            </a:r>
            <a:br>
              <a:rPr b="0" i="0" lang="en-US" sz="1400" u="none" cap="none" strike="noStrike">
                <a:solidFill>
                  <a:srgbClr val="F2F1E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b="0" i="0" lang="en-US" sz="1400" u="none" cap="none" strike="noStrike">
                <a:solidFill>
                  <a:srgbClr val="F2F1E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School of Engineering and Applied Sciences</a:t>
            </a:r>
            <a:endParaRPr b="0" i="0" sz="2100" u="none" cap="none" strike="noStrike">
              <a:solidFill>
                <a:srgbClr val="F2F1E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6839100" y="5024875"/>
            <a:ext cx="22800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Aryan Sukhadia</a:t>
            </a:r>
            <a:br>
              <a:rPr b="1" i="0" lang="en-US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1" i="0" lang="en-US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AU2240069</a:t>
            </a:r>
            <a:endParaRPr b="1" i="0" sz="16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FEFEF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9398400" y="5658777"/>
            <a:ext cx="1758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2F1E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Btech. CSE, </a:t>
            </a:r>
            <a:br>
              <a:rPr b="0" i="0" lang="en-US" sz="1400" u="none" cap="none" strike="noStrike">
                <a:solidFill>
                  <a:srgbClr val="F2F1E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b="0" i="0" lang="en-US" sz="1400" u="none" cap="none" strike="noStrike">
                <a:solidFill>
                  <a:srgbClr val="F2F1E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School of Engineering and Applied Sciences</a:t>
            </a:r>
            <a:endParaRPr b="0" i="0" sz="2100" u="none" cap="none" strike="noStrike">
              <a:solidFill>
                <a:srgbClr val="F2F1E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9119100" y="5024727"/>
            <a:ext cx="22800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Naitik Shah</a:t>
            </a:r>
            <a:br>
              <a:rPr b="1" i="0" lang="en-US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1" i="0" lang="en-US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AU2240047</a:t>
            </a:r>
            <a:endParaRPr b="1" i="0" sz="16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FEFEF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c3ff8a06be_0_0"/>
          <p:cNvSpPr txBox="1"/>
          <p:nvPr>
            <p:ph type="title"/>
          </p:nvPr>
        </p:nvSpPr>
        <p:spPr>
          <a:xfrm>
            <a:off x="594303" y="-381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Content</a:t>
            </a:r>
            <a:endParaRPr/>
          </a:p>
        </p:txBody>
      </p:sp>
      <p:sp>
        <p:nvSpPr>
          <p:cNvPr id="110" name="Google Shape;110;g2c3ff8a06be_0_0"/>
          <p:cNvSpPr txBox="1"/>
          <p:nvPr>
            <p:ph idx="1" type="body"/>
          </p:nvPr>
        </p:nvSpPr>
        <p:spPr>
          <a:xfrm>
            <a:off x="582426" y="1464149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 lnSpcReduction="20000"/>
          </a:bodyPr>
          <a:lstStyle/>
          <a:p>
            <a:pPr indent="-4127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900"/>
              <a:buFont typeface="Times New Roman"/>
              <a:buChar char="•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  <a:p>
            <a:pPr indent="-4127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900"/>
              <a:buFont typeface="Times New Roman"/>
              <a:buChar char="•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2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900"/>
              <a:buFont typeface="Times New Roman"/>
              <a:buChar char="•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Instructor’s Feedback</a:t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2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900"/>
              <a:buFont typeface="Times New Roman"/>
              <a:buChar char="•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Approach</a:t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2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Times New Roman"/>
              <a:buChar char="•"/>
            </a:pPr>
            <a: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2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Times New Roman"/>
              <a:buChar char="•"/>
            </a:pPr>
            <a: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Further Improvements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2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900"/>
              <a:buFont typeface="Times New Roman"/>
              <a:buChar char="•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>
            <p:ph type="title"/>
          </p:nvPr>
        </p:nvSpPr>
        <p:spPr>
          <a:xfrm>
            <a:off x="594303" y="266700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16" name="Google Shape;116;p5"/>
          <p:cNvSpPr txBox="1"/>
          <p:nvPr>
            <p:ph idx="1" type="body"/>
          </p:nvPr>
        </p:nvSpPr>
        <p:spPr>
          <a:xfrm>
            <a:off x="582425" y="1768950"/>
            <a:ext cx="10515600" cy="40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 lnSpcReduction="10000"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Athletic performance is influenced by sleep, training, fatigue, and recovery.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This project predicts athletic readiness</a:t>
            </a:r>
            <a:r>
              <a:rPr lang="en-US"/>
              <a:t> using sleep and recovery patterns.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Factors include travel, training, academics, and social commitments.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Previous studies used </a:t>
            </a:r>
            <a:r>
              <a:rPr lang="en-US">
                <a:solidFill>
                  <a:schemeClr val="dk1"/>
                </a:solidFill>
              </a:rPr>
              <a:t>RSI</a:t>
            </a:r>
            <a:r>
              <a:rPr lang="en-US"/>
              <a:t> to predict game performance and readiness </a:t>
            </a:r>
            <a:r>
              <a:rPr lang="en-US">
                <a:solidFill>
                  <a:schemeClr val="dk1"/>
                </a:solidFill>
              </a:rPr>
              <a:t>but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lang="en-US">
                <a:solidFill>
                  <a:schemeClr val="dk1"/>
                </a:solidFill>
              </a:rPr>
              <a:t>it often lacks accuracy in predicting true readiness, especially when external factors like sleep and academic stress are involved.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Insights help athletes and coaches optimize recovery and enhance performance.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358eca5d40_0_0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122" name="Google Shape;122;g3358eca5d40_0_0"/>
          <p:cNvSpPr txBox="1"/>
          <p:nvPr>
            <p:ph idx="1" type="body"/>
          </p:nvPr>
        </p:nvSpPr>
        <p:spPr>
          <a:xfrm>
            <a:off x="582425" y="1768950"/>
            <a:ext cx="10515600" cy="40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</p:txBody>
      </p:sp>
      <p:sp>
        <p:nvSpPr>
          <p:cNvPr id="123" name="Google Shape;123;g3358eca5d40_0_0"/>
          <p:cNvSpPr txBox="1"/>
          <p:nvPr>
            <p:ph idx="12" type="sldNum"/>
          </p:nvPr>
        </p:nvSpPr>
        <p:spPr>
          <a:xfrm>
            <a:off x="11164924" y="6338767"/>
            <a:ext cx="189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</a:pPr>
            <a:fld id="{00000000-1234-1234-1234-123412341234}" type="slidenum">
              <a:rPr lang="en-US"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24" name="Google Shape;124;g3358eca5d40_0_0"/>
          <p:cNvSpPr txBox="1"/>
          <p:nvPr/>
        </p:nvSpPr>
        <p:spPr>
          <a:xfrm>
            <a:off x="582425" y="1592400"/>
            <a:ext cx="11315700" cy="55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Helvetica Neue Light"/>
                <a:ea typeface="Helvetica Neue Light"/>
                <a:cs typeface="Helvetica Neue Light"/>
                <a:sym typeface="Helvetica Neue Light"/>
              </a:rPr>
              <a:t>The objective of this project is to assess the impact of athlete sleep patterns on their performance (readiness) and thereby predict RSImod (Reactive Strength Index Modified). RSImod is a readiness measure used in sports science to assess an </a:t>
            </a:r>
            <a:r>
              <a:rPr lang="en-US" sz="2000">
                <a:latin typeface="Helvetica Neue Light"/>
                <a:ea typeface="Helvetica Neue Light"/>
                <a:cs typeface="Helvetica Neue Light"/>
                <a:sym typeface="Helvetica Neue Light"/>
              </a:rPr>
              <a:t>athlete</a:t>
            </a:r>
            <a:r>
              <a:rPr lang="en-US" sz="2000">
                <a:latin typeface="Helvetica Neue Light"/>
                <a:ea typeface="Helvetica Neue Light"/>
                <a:cs typeface="Helvetica Neue Light"/>
                <a:sym typeface="Helvetica Neue Light"/>
              </a:rPr>
              <a:t>’s neuromuscular fatigue.</a:t>
            </a:r>
            <a:endParaRPr sz="2000"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Helvetica Neue Light"/>
                <a:ea typeface="Helvetica Neue Light"/>
                <a:cs typeface="Helvetica Neue Light"/>
                <a:sym typeface="Helvetica Neue Light"/>
              </a:rPr>
              <a:t>Athletic Readiness &amp; Challenges</a:t>
            </a:r>
            <a:endParaRPr sz="2000"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 Light"/>
              <a:buChar char="●"/>
            </a:pPr>
            <a:r>
              <a:rPr lang="en-US" sz="2000">
                <a:latin typeface="Helvetica Neue Light"/>
                <a:ea typeface="Helvetica Neue Light"/>
                <a:cs typeface="Helvetica Neue Light"/>
                <a:sym typeface="Helvetica Neue Light"/>
              </a:rPr>
              <a:t>Crucial for performance &amp; injury prevention.</a:t>
            </a:r>
            <a:endParaRPr sz="2000"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 Light"/>
              <a:buChar char="●"/>
            </a:pPr>
            <a:r>
              <a:rPr lang="en-US" sz="2000">
                <a:latin typeface="Helvetica Neue Light"/>
                <a:ea typeface="Helvetica Neue Light"/>
                <a:cs typeface="Helvetica Neue Light"/>
                <a:sym typeface="Helvetica Neue Light"/>
              </a:rPr>
              <a:t>Traditional assessments(RSI) lack accuracy in predicting readiness.</a:t>
            </a:r>
            <a:endParaRPr sz="2000"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Helvetica Neue Light"/>
                <a:ea typeface="Helvetica Neue Light"/>
                <a:cs typeface="Helvetica Neue Light"/>
                <a:sym typeface="Helvetica Neue Light"/>
              </a:rPr>
              <a:t>Collegiate basketball players experience fatigue due to:</a:t>
            </a:r>
            <a:endParaRPr sz="2000"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 Light"/>
              <a:buChar char="●"/>
            </a:pPr>
            <a:r>
              <a:rPr lang="en-US" sz="2000">
                <a:latin typeface="Helvetica Neue Light"/>
                <a:ea typeface="Helvetica Neue Light"/>
                <a:cs typeface="Helvetica Neue Light"/>
                <a:sym typeface="Helvetica Neue Light"/>
              </a:rPr>
              <a:t>Frequent games &amp; travel.</a:t>
            </a:r>
            <a:endParaRPr sz="2000"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 Light"/>
              <a:buChar char="●"/>
            </a:pPr>
            <a:r>
              <a:rPr lang="en-US" sz="2000">
                <a:latin typeface="Helvetica Neue Light"/>
                <a:ea typeface="Helvetica Neue Light"/>
                <a:cs typeface="Helvetica Neue Light"/>
                <a:sym typeface="Helvetica Neue Light"/>
              </a:rPr>
              <a:t>Academic stress affecting sleep &amp; recovery.</a:t>
            </a:r>
            <a:endParaRPr sz="2000"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b35ae2376_0_0"/>
          <p:cNvSpPr txBox="1"/>
          <p:nvPr>
            <p:ph type="title"/>
          </p:nvPr>
        </p:nvSpPr>
        <p:spPr>
          <a:xfrm>
            <a:off x="594300" y="266700"/>
            <a:ext cx="105156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Helvetica Neue"/>
              <a:buNone/>
            </a:pPr>
            <a:r>
              <a:rPr lang="en-US"/>
              <a:t>Instructor’s Feedback</a:t>
            </a:r>
            <a:endParaRPr/>
          </a:p>
        </p:txBody>
      </p:sp>
      <p:sp>
        <p:nvSpPr>
          <p:cNvPr id="130" name="Google Shape;130;g34b35ae2376_0_0"/>
          <p:cNvSpPr txBox="1"/>
          <p:nvPr>
            <p:ph idx="1" type="body"/>
          </p:nvPr>
        </p:nvSpPr>
        <p:spPr>
          <a:xfrm>
            <a:off x="582425" y="957075"/>
            <a:ext cx="8113800" cy="51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How </a:t>
            </a:r>
            <a:r>
              <a:rPr lang="en-US">
                <a:solidFill>
                  <a:schemeClr val="dk1"/>
                </a:solidFill>
              </a:rPr>
              <a:t>Iterative Imputer(MICE) with XGBoost </a:t>
            </a:r>
            <a:r>
              <a:rPr lang="en-US"/>
              <a:t>calculates missing values?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Each feature with missing values is imputed by modeling it as a function of the other features.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Starts with basic imputations (like mean/median), then iteratively refines the predictions.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Used XGBRegressor as the estimator for more accurate, non-linear imputation compared to traditional linear models.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•"/>
            </a:pPr>
            <a:r>
              <a:rPr lang="en-US"/>
              <a:t>Missing values are updated over several cycles to improve convergence and stability.</a:t>
            </a:r>
            <a:endParaRPr/>
          </a:p>
        </p:txBody>
      </p:sp>
      <p:pic>
        <p:nvPicPr>
          <p:cNvPr id="131" name="Google Shape;131;g34b35ae2376_0_0"/>
          <p:cNvPicPr preferRelativeResize="0"/>
          <p:nvPr/>
        </p:nvPicPr>
        <p:blipFill rotWithShape="1">
          <a:blip r:embed="rId3">
            <a:alphaModFix/>
          </a:blip>
          <a:srcRect b="0" l="10590" r="15247" t="0"/>
          <a:stretch/>
        </p:blipFill>
        <p:spPr>
          <a:xfrm>
            <a:off x="8914350" y="812700"/>
            <a:ext cx="3161375" cy="27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4b5e2d1407_0_0"/>
          <p:cNvSpPr txBox="1"/>
          <p:nvPr>
            <p:ph type="title"/>
          </p:nvPr>
        </p:nvSpPr>
        <p:spPr>
          <a:xfrm>
            <a:off x="594300" y="266700"/>
            <a:ext cx="105156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</a:pPr>
            <a:r>
              <a:rPr lang="en-US"/>
              <a:t>Approach</a:t>
            </a:r>
            <a:endParaRPr/>
          </a:p>
        </p:txBody>
      </p:sp>
      <p:sp>
        <p:nvSpPr>
          <p:cNvPr id="137" name="Google Shape;137;g34b5e2d1407_0_0"/>
          <p:cNvSpPr txBox="1"/>
          <p:nvPr>
            <p:ph idx="1" type="body"/>
          </p:nvPr>
        </p:nvSpPr>
        <p:spPr>
          <a:xfrm>
            <a:off x="296700" y="1634892"/>
            <a:ext cx="10839300" cy="46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38" name="Google Shape;138;g34b5e2d1407_0_0"/>
          <p:cNvSpPr/>
          <p:nvPr/>
        </p:nvSpPr>
        <p:spPr>
          <a:xfrm flipH="1" rot="1024137">
            <a:off x="10236463" y="4000674"/>
            <a:ext cx="2057425" cy="110356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4b5e2d1407_0_0"/>
          <p:cNvSpPr/>
          <p:nvPr/>
        </p:nvSpPr>
        <p:spPr>
          <a:xfrm rot="-1024137">
            <a:off x="8358577" y="4000674"/>
            <a:ext cx="2057425" cy="110356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4b5e2d1407_0_0"/>
          <p:cNvSpPr/>
          <p:nvPr/>
        </p:nvSpPr>
        <p:spPr>
          <a:xfrm flipH="1" rot="1024137">
            <a:off x="6459139" y="4000674"/>
            <a:ext cx="2057425" cy="110356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4b5e2d1407_0_0"/>
          <p:cNvSpPr/>
          <p:nvPr/>
        </p:nvSpPr>
        <p:spPr>
          <a:xfrm rot="-1024137">
            <a:off x="4581253" y="4000674"/>
            <a:ext cx="2057425" cy="110356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4b5e2d1407_0_0"/>
          <p:cNvSpPr/>
          <p:nvPr/>
        </p:nvSpPr>
        <p:spPr>
          <a:xfrm flipH="1" rot="1024137">
            <a:off x="2689374" y="4000674"/>
            <a:ext cx="2057425" cy="110356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3" name="Google Shape;143;g34b5e2d1407_0_0"/>
          <p:cNvGrpSpPr/>
          <p:nvPr/>
        </p:nvGrpSpPr>
        <p:grpSpPr>
          <a:xfrm>
            <a:off x="6869560" y="4116622"/>
            <a:ext cx="3144517" cy="2354727"/>
            <a:chOff x="4734203" y="2543425"/>
            <a:chExt cx="1712700" cy="1230715"/>
          </a:xfrm>
        </p:grpSpPr>
        <p:sp>
          <p:nvSpPr>
            <p:cNvPr id="144" name="Google Shape;144;g34b5e2d1407_0_0"/>
            <p:cNvSpPr/>
            <p:nvPr/>
          </p:nvSpPr>
          <p:spPr>
            <a:xfrm rot="-1789476">
              <a:off x="5510320" y="2572699"/>
              <a:ext cx="160451" cy="160451"/>
            </a:xfrm>
            <a:prstGeom prst="ellipse">
              <a:avLst/>
            </a:prstGeom>
            <a:solidFill>
              <a:schemeClr val="accent6"/>
            </a:solidFill>
            <a:ln cap="flat" cmpd="sng" w="381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g34b5e2d1407_0_0"/>
            <p:cNvSpPr/>
            <p:nvPr/>
          </p:nvSpPr>
          <p:spPr>
            <a:xfrm>
              <a:off x="4734203" y="307064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98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46" name="Google Shape;146;g34b5e2d1407_0_0"/>
            <p:cNvSpPr txBox="1"/>
            <p:nvPr/>
          </p:nvSpPr>
          <p:spPr>
            <a:xfrm>
              <a:off x="4778451" y="3088794"/>
              <a:ext cx="1624200" cy="643800"/>
            </a:xfrm>
            <a:prstGeom prst="rect">
              <a:avLst/>
            </a:prstGeom>
            <a:solidFill>
              <a:srgbClr val="980000"/>
            </a:solidFill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700">
                  <a:solidFill>
                    <a:schemeClr val="accent6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Trained 3 models: linear regression, random forest regression, and XGBoost Regressor.</a:t>
              </a:r>
              <a:endParaRPr sz="1700">
                <a:solidFill>
                  <a:schemeClr val="accent6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21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700">
                <a:solidFill>
                  <a:schemeClr val="accent6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2100"/>
                </a:spcBef>
                <a:spcAft>
                  <a:spcPts val="2100"/>
                </a:spcAft>
                <a:buNone/>
              </a:pPr>
              <a:r>
                <a:t/>
              </a:r>
              <a:endParaRPr sz="1700">
                <a:solidFill>
                  <a:schemeClr val="accent6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47" name="Google Shape;147;g34b5e2d1407_0_0"/>
            <p:cNvSpPr/>
            <p:nvPr/>
          </p:nvSpPr>
          <p:spPr>
            <a:xfrm>
              <a:off x="5545553" y="3005991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98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" name="Google Shape;148;g34b5e2d1407_0_0"/>
          <p:cNvGrpSpPr/>
          <p:nvPr/>
        </p:nvGrpSpPr>
        <p:grpSpPr>
          <a:xfrm>
            <a:off x="8733112" y="1587515"/>
            <a:ext cx="3144517" cy="2385414"/>
            <a:chOff x="5770307" y="1221570"/>
            <a:chExt cx="1712700" cy="1246754"/>
          </a:xfrm>
        </p:grpSpPr>
        <p:sp>
          <p:nvSpPr>
            <p:cNvPr id="149" name="Google Shape;149;g34b5e2d1407_0_0"/>
            <p:cNvSpPr/>
            <p:nvPr/>
          </p:nvSpPr>
          <p:spPr>
            <a:xfrm rot="-1789476">
              <a:off x="6546711" y="2278597"/>
              <a:ext cx="160451" cy="160451"/>
            </a:xfrm>
            <a:prstGeom prst="ellipse">
              <a:avLst/>
            </a:prstGeom>
            <a:solidFill>
              <a:schemeClr val="accent6"/>
            </a:solidFill>
            <a:ln cap="flat" cmpd="sng" w="381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g34b5e2d1407_0_0"/>
            <p:cNvSpPr/>
            <p:nvPr/>
          </p:nvSpPr>
          <p:spPr>
            <a:xfrm>
              <a:off x="5770307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98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51" name="Google Shape;151;g34b5e2d1407_0_0"/>
            <p:cNvSpPr/>
            <p:nvPr/>
          </p:nvSpPr>
          <p:spPr>
            <a:xfrm rot="10800000">
              <a:off x="6581632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98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g34b5e2d1407_0_0"/>
            <p:cNvSpPr txBox="1"/>
            <p:nvPr/>
          </p:nvSpPr>
          <p:spPr>
            <a:xfrm>
              <a:off x="5814554" y="1239710"/>
              <a:ext cx="1624200" cy="643800"/>
            </a:xfrm>
            <a:prstGeom prst="rect">
              <a:avLst/>
            </a:prstGeom>
            <a:solidFill>
              <a:srgbClr val="980000"/>
            </a:solidFill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lang="en-US" sz="1700">
                  <a:solidFill>
                    <a:schemeClr val="accent6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Evaluated the performance using Mean Squared Error, Mean Absolute Error and R2 score</a:t>
              </a:r>
              <a:endParaRPr sz="1700">
                <a:solidFill>
                  <a:schemeClr val="accent6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53" name="Google Shape;153;g34b5e2d1407_0_0"/>
          <p:cNvGrpSpPr/>
          <p:nvPr/>
        </p:nvGrpSpPr>
        <p:grpSpPr>
          <a:xfrm>
            <a:off x="3105026" y="4116622"/>
            <a:ext cx="3144517" cy="2354727"/>
            <a:chOff x="2683803" y="2543425"/>
            <a:chExt cx="1712700" cy="1230715"/>
          </a:xfrm>
        </p:grpSpPr>
        <p:sp>
          <p:nvSpPr>
            <p:cNvPr id="154" name="Google Shape;154;g34b5e2d1407_0_0"/>
            <p:cNvSpPr/>
            <p:nvPr/>
          </p:nvSpPr>
          <p:spPr>
            <a:xfrm rot="-1789476">
              <a:off x="3457142" y="2572699"/>
              <a:ext cx="160451" cy="160451"/>
            </a:xfrm>
            <a:prstGeom prst="ellipse">
              <a:avLst/>
            </a:prstGeom>
            <a:solidFill>
              <a:srgbClr val="FEFEFE"/>
            </a:solidFill>
            <a:ln cap="flat" cmpd="sng" w="38100">
              <a:solidFill>
                <a:srgbClr val="A729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g34b5e2d1407_0_0"/>
            <p:cNvSpPr/>
            <p:nvPr/>
          </p:nvSpPr>
          <p:spPr>
            <a:xfrm>
              <a:off x="2683803" y="307064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98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56" name="Google Shape;156;g34b5e2d1407_0_0"/>
            <p:cNvSpPr txBox="1"/>
            <p:nvPr/>
          </p:nvSpPr>
          <p:spPr>
            <a:xfrm>
              <a:off x="2728056" y="3088794"/>
              <a:ext cx="1624200" cy="643800"/>
            </a:xfrm>
            <a:prstGeom prst="rect">
              <a:avLst/>
            </a:prstGeom>
            <a:solidFill>
              <a:srgbClr val="980000"/>
            </a:solidFill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lang="en-US" sz="1700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Applied RFE with XGBoost to remove less important columns. Selected top 18 features for training.</a:t>
              </a:r>
              <a:endParaRPr sz="1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57" name="Google Shape;157;g34b5e2d1407_0_0"/>
            <p:cNvSpPr/>
            <p:nvPr/>
          </p:nvSpPr>
          <p:spPr>
            <a:xfrm>
              <a:off x="3495153" y="3005991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98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8" name="Google Shape;158;g34b5e2d1407_0_0"/>
          <p:cNvGrpSpPr/>
          <p:nvPr/>
        </p:nvGrpSpPr>
        <p:grpSpPr>
          <a:xfrm>
            <a:off x="1192005" y="1587515"/>
            <a:ext cx="3144517" cy="2385414"/>
            <a:chOff x="1641853" y="1221570"/>
            <a:chExt cx="1712700" cy="1246754"/>
          </a:xfrm>
        </p:grpSpPr>
        <p:sp>
          <p:nvSpPr>
            <p:cNvPr id="159" name="Google Shape;159;g34b5e2d1407_0_0"/>
            <p:cNvSpPr/>
            <p:nvPr/>
          </p:nvSpPr>
          <p:spPr>
            <a:xfrm>
              <a:off x="1641853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98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60" name="Google Shape;160;g34b5e2d1407_0_0"/>
            <p:cNvSpPr/>
            <p:nvPr/>
          </p:nvSpPr>
          <p:spPr>
            <a:xfrm rot="10800000">
              <a:off x="2453178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98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g34b5e2d1407_0_0"/>
            <p:cNvSpPr/>
            <p:nvPr/>
          </p:nvSpPr>
          <p:spPr>
            <a:xfrm rot="-1789476">
              <a:off x="2415143" y="2278597"/>
              <a:ext cx="160451" cy="160451"/>
            </a:xfrm>
            <a:prstGeom prst="ellipse">
              <a:avLst/>
            </a:prstGeom>
            <a:solidFill>
              <a:schemeClr val="accent6"/>
            </a:solidFill>
            <a:ln cap="flat" cmpd="sng" w="381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" name="Google Shape;162;g34b5e2d1407_0_0"/>
          <p:cNvGrpSpPr/>
          <p:nvPr/>
        </p:nvGrpSpPr>
        <p:grpSpPr>
          <a:xfrm>
            <a:off x="4956448" y="1587515"/>
            <a:ext cx="3144517" cy="2385414"/>
            <a:chOff x="3692203" y="1221570"/>
            <a:chExt cx="1712700" cy="1246754"/>
          </a:xfrm>
        </p:grpSpPr>
        <p:sp>
          <p:nvSpPr>
            <p:cNvPr id="163" name="Google Shape;163;g34b5e2d1407_0_0"/>
            <p:cNvSpPr/>
            <p:nvPr/>
          </p:nvSpPr>
          <p:spPr>
            <a:xfrm rot="-1789476">
              <a:off x="4468320" y="2278597"/>
              <a:ext cx="160451" cy="160451"/>
            </a:xfrm>
            <a:prstGeom prst="ellipse">
              <a:avLst/>
            </a:prstGeom>
            <a:solidFill>
              <a:schemeClr val="accent6"/>
            </a:solidFill>
            <a:ln cap="flat" cmpd="sng" w="381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g34b5e2d1407_0_0"/>
            <p:cNvSpPr/>
            <p:nvPr/>
          </p:nvSpPr>
          <p:spPr>
            <a:xfrm>
              <a:off x="3692203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98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65" name="Google Shape;165;g34b5e2d1407_0_0"/>
            <p:cNvSpPr/>
            <p:nvPr/>
          </p:nvSpPr>
          <p:spPr>
            <a:xfrm rot="10800000">
              <a:off x="4503528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98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g34b5e2d1407_0_0"/>
            <p:cNvSpPr txBox="1"/>
            <p:nvPr/>
          </p:nvSpPr>
          <p:spPr>
            <a:xfrm>
              <a:off x="3736453" y="1258770"/>
              <a:ext cx="1624200" cy="624600"/>
            </a:xfrm>
            <a:prstGeom prst="rect">
              <a:avLst/>
            </a:prstGeom>
            <a:solidFill>
              <a:srgbClr val="980000"/>
            </a:solidFill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lang="en-US" sz="1700">
                  <a:solidFill>
                    <a:schemeClr val="accent6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Data Split: 80% for training, 20% for testing.</a:t>
              </a:r>
              <a:endParaRPr sz="1700">
                <a:solidFill>
                  <a:schemeClr val="accent6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67" name="Google Shape;167;g34b5e2d1407_0_0"/>
          <p:cNvSpPr txBox="1"/>
          <p:nvPr/>
        </p:nvSpPr>
        <p:spPr>
          <a:xfrm>
            <a:off x="1281075" y="1634900"/>
            <a:ext cx="30555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accent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Used MICE (Iterative Imputer) with XGBoost to replace missing values. Scaled data using Standard Scaler.</a:t>
            </a:r>
            <a:endParaRPr sz="1700">
              <a:solidFill>
                <a:schemeClr val="accent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b5e2d1407_2_1695"/>
          <p:cNvSpPr txBox="1"/>
          <p:nvPr>
            <p:ph type="title"/>
          </p:nvPr>
        </p:nvSpPr>
        <p:spPr>
          <a:xfrm>
            <a:off x="594300" y="266700"/>
            <a:ext cx="105156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solidFill>
                  <a:schemeClr val="dk1"/>
                </a:solidFill>
              </a:rPr>
              <a:t>Approach</a:t>
            </a:r>
            <a:endParaRPr/>
          </a:p>
        </p:txBody>
      </p:sp>
      <p:sp>
        <p:nvSpPr>
          <p:cNvPr id="173" name="Google Shape;173;g34b5e2d1407_2_1695"/>
          <p:cNvSpPr txBox="1"/>
          <p:nvPr>
            <p:ph idx="1" type="body"/>
          </p:nvPr>
        </p:nvSpPr>
        <p:spPr>
          <a:xfrm>
            <a:off x="-376625" y="1602042"/>
            <a:ext cx="10839300" cy="46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74" name="Google Shape;174;g34b5e2d1407_2_1695"/>
          <p:cNvSpPr/>
          <p:nvPr/>
        </p:nvSpPr>
        <p:spPr>
          <a:xfrm rot="-1024137">
            <a:off x="7685252" y="3967824"/>
            <a:ext cx="2057425" cy="110356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4b5e2d1407_2_1695"/>
          <p:cNvSpPr/>
          <p:nvPr/>
        </p:nvSpPr>
        <p:spPr>
          <a:xfrm flipH="1" rot="1024137">
            <a:off x="5785814" y="3967824"/>
            <a:ext cx="2057425" cy="110356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4b5e2d1407_2_1695"/>
          <p:cNvSpPr/>
          <p:nvPr/>
        </p:nvSpPr>
        <p:spPr>
          <a:xfrm rot="-1024137">
            <a:off x="3907928" y="3967824"/>
            <a:ext cx="2057425" cy="110356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4b5e2d1407_2_1695"/>
          <p:cNvSpPr/>
          <p:nvPr/>
        </p:nvSpPr>
        <p:spPr>
          <a:xfrm flipH="1" rot="1024137">
            <a:off x="2016049" y="3967824"/>
            <a:ext cx="2057425" cy="110356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8" name="Google Shape;178;g34b5e2d1407_2_1695"/>
          <p:cNvGrpSpPr/>
          <p:nvPr/>
        </p:nvGrpSpPr>
        <p:grpSpPr>
          <a:xfrm>
            <a:off x="6196235" y="4083772"/>
            <a:ext cx="3144517" cy="2354727"/>
            <a:chOff x="4734203" y="2543425"/>
            <a:chExt cx="1712700" cy="1230715"/>
          </a:xfrm>
        </p:grpSpPr>
        <p:sp>
          <p:nvSpPr>
            <p:cNvPr id="179" name="Google Shape;179;g34b5e2d1407_2_1695"/>
            <p:cNvSpPr/>
            <p:nvPr/>
          </p:nvSpPr>
          <p:spPr>
            <a:xfrm rot="-1789476">
              <a:off x="5510320" y="2572699"/>
              <a:ext cx="160451" cy="160451"/>
            </a:xfrm>
            <a:prstGeom prst="ellipse">
              <a:avLst/>
            </a:prstGeom>
            <a:solidFill>
              <a:schemeClr val="accent6"/>
            </a:solidFill>
            <a:ln cap="flat" cmpd="sng" w="381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g34b5e2d1407_2_1695"/>
            <p:cNvSpPr/>
            <p:nvPr/>
          </p:nvSpPr>
          <p:spPr>
            <a:xfrm>
              <a:off x="4734203" y="307064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98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81" name="Google Shape;181;g34b5e2d1407_2_1695"/>
            <p:cNvSpPr txBox="1"/>
            <p:nvPr/>
          </p:nvSpPr>
          <p:spPr>
            <a:xfrm>
              <a:off x="4778451" y="3088794"/>
              <a:ext cx="1624200" cy="643800"/>
            </a:xfrm>
            <a:prstGeom prst="rect">
              <a:avLst/>
            </a:prstGeom>
            <a:solidFill>
              <a:srgbClr val="980000"/>
            </a:solidFill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chemeClr val="accent6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Took top 4 features from permutation importance.</a:t>
              </a:r>
              <a:endParaRPr sz="1700">
                <a:solidFill>
                  <a:schemeClr val="accent6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82" name="Google Shape;182;g34b5e2d1407_2_1695"/>
            <p:cNvSpPr/>
            <p:nvPr/>
          </p:nvSpPr>
          <p:spPr>
            <a:xfrm>
              <a:off x="5545553" y="3005991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98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" name="Google Shape;183;g34b5e2d1407_2_1695"/>
          <p:cNvSpPr/>
          <p:nvPr/>
        </p:nvSpPr>
        <p:spPr>
          <a:xfrm rot="-1024021">
            <a:off x="-64901" y="3998322"/>
            <a:ext cx="2265153" cy="110356"/>
          </a:xfrm>
          <a:prstGeom prst="roundRect">
            <a:avLst>
              <a:gd fmla="val 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4" name="Google Shape;184;g34b5e2d1407_2_1695"/>
          <p:cNvGrpSpPr/>
          <p:nvPr/>
        </p:nvGrpSpPr>
        <p:grpSpPr>
          <a:xfrm>
            <a:off x="8059787" y="1554665"/>
            <a:ext cx="3144517" cy="2385414"/>
            <a:chOff x="5770307" y="1221570"/>
            <a:chExt cx="1712700" cy="1246754"/>
          </a:xfrm>
        </p:grpSpPr>
        <p:sp>
          <p:nvSpPr>
            <p:cNvPr id="185" name="Google Shape;185;g34b5e2d1407_2_1695"/>
            <p:cNvSpPr/>
            <p:nvPr/>
          </p:nvSpPr>
          <p:spPr>
            <a:xfrm rot="-1789476">
              <a:off x="6546711" y="2278597"/>
              <a:ext cx="160451" cy="160451"/>
            </a:xfrm>
            <a:prstGeom prst="ellipse">
              <a:avLst/>
            </a:prstGeom>
            <a:solidFill>
              <a:schemeClr val="accent6"/>
            </a:solidFill>
            <a:ln cap="flat" cmpd="sng" w="381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g34b5e2d1407_2_1695"/>
            <p:cNvSpPr/>
            <p:nvPr/>
          </p:nvSpPr>
          <p:spPr>
            <a:xfrm>
              <a:off x="5770307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98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87" name="Google Shape;187;g34b5e2d1407_2_1695"/>
            <p:cNvSpPr/>
            <p:nvPr/>
          </p:nvSpPr>
          <p:spPr>
            <a:xfrm rot="10800000">
              <a:off x="6581632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98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g34b5e2d1407_2_1695"/>
            <p:cNvSpPr txBox="1"/>
            <p:nvPr/>
          </p:nvSpPr>
          <p:spPr>
            <a:xfrm>
              <a:off x="5814554" y="1239710"/>
              <a:ext cx="1624200" cy="643800"/>
            </a:xfrm>
            <a:prstGeom prst="rect">
              <a:avLst/>
            </a:prstGeom>
            <a:solidFill>
              <a:srgbClr val="980000"/>
            </a:solidFill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t/>
              </a:r>
              <a:endParaRPr sz="1700">
                <a:solidFill>
                  <a:schemeClr val="accent6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89" name="Google Shape;189;g34b5e2d1407_2_1695"/>
          <p:cNvGrpSpPr/>
          <p:nvPr/>
        </p:nvGrpSpPr>
        <p:grpSpPr>
          <a:xfrm>
            <a:off x="2431701" y="4083772"/>
            <a:ext cx="3144517" cy="2354727"/>
            <a:chOff x="2683803" y="2543425"/>
            <a:chExt cx="1712700" cy="1230715"/>
          </a:xfrm>
        </p:grpSpPr>
        <p:sp>
          <p:nvSpPr>
            <p:cNvPr id="190" name="Google Shape;190;g34b5e2d1407_2_1695"/>
            <p:cNvSpPr/>
            <p:nvPr/>
          </p:nvSpPr>
          <p:spPr>
            <a:xfrm rot="-1789476">
              <a:off x="3457142" y="2572699"/>
              <a:ext cx="160451" cy="160451"/>
            </a:xfrm>
            <a:prstGeom prst="ellipse">
              <a:avLst/>
            </a:prstGeom>
            <a:solidFill>
              <a:srgbClr val="FEFEFE"/>
            </a:solidFill>
            <a:ln cap="flat" cmpd="sng" w="38100">
              <a:solidFill>
                <a:srgbClr val="A729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g34b5e2d1407_2_1695"/>
            <p:cNvSpPr/>
            <p:nvPr/>
          </p:nvSpPr>
          <p:spPr>
            <a:xfrm>
              <a:off x="2683803" y="307064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98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92" name="Google Shape;192;g34b5e2d1407_2_1695"/>
            <p:cNvSpPr txBox="1"/>
            <p:nvPr/>
          </p:nvSpPr>
          <p:spPr>
            <a:xfrm>
              <a:off x="2728056" y="3088794"/>
              <a:ext cx="1624200" cy="643800"/>
            </a:xfrm>
            <a:prstGeom prst="rect">
              <a:avLst/>
            </a:prstGeom>
            <a:solidFill>
              <a:srgbClr val="980000"/>
            </a:solidFill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500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Evaluated feature importance using permutation importance. </a:t>
              </a:r>
              <a:endPara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21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2100"/>
                </a:spcBef>
                <a:spcAft>
                  <a:spcPts val="21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93" name="Google Shape;193;g34b5e2d1407_2_1695"/>
            <p:cNvSpPr/>
            <p:nvPr/>
          </p:nvSpPr>
          <p:spPr>
            <a:xfrm>
              <a:off x="3495153" y="3005991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98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" name="Google Shape;194;g34b5e2d1407_2_1695"/>
          <p:cNvGrpSpPr/>
          <p:nvPr/>
        </p:nvGrpSpPr>
        <p:grpSpPr>
          <a:xfrm>
            <a:off x="518680" y="1554665"/>
            <a:ext cx="3144517" cy="2385414"/>
            <a:chOff x="1641853" y="1221570"/>
            <a:chExt cx="1712700" cy="1246754"/>
          </a:xfrm>
        </p:grpSpPr>
        <p:sp>
          <p:nvSpPr>
            <p:cNvPr id="195" name="Google Shape;195;g34b5e2d1407_2_1695"/>
            <p:cNvSpPr/>
            <p:nvPr/>
          </p:nvSpPr>
          <p:spPr>
            <a:xfrm>
              <a:off x="1641853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98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96" name="Google Shape;196;g34b5e2d1407_2_1695"/>
            <p:cNvSpPr/>
            <p:nvPr/>
          </p:nvSpPr>
          <p:spPr>
            <a:xfrm rot="10800000">
              <a:off x="2453178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98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g34b5e2d1407_2_1695"/>
            <p:cNvSpPr/>
            <p:nvPr/>
          </p:nvSpPr>
          <p:spPr>
            <a:xfrm rot="-1789476">
              <a:off x="2415143" y="2278597"/>
              <a:ext cx="160451" cy="160451"/>
            </a:xfrm>
            <a:prstGeom prst="ellipse">
              <a:avLst/>
            </a:prstGeom>
            <a:solidFill>
              <a:schemeClr val="accent6"/>
            </a:solidFill>
            <a:ln cap="flat" cmpd="sng" w="381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8" name="Google Shape;198;g34b5e2d1407_2_1695"/>
          <p:cNvGrpSpPr/>
          <p:nvPr/>
        </p:nvGrpSpPr>
        <p:grpSpPr>
          <a:xfrm>
            <a:off x="4275225" y="1554665"/>
            <a:ext cx="3152415" cy="2385414"/>
            <a:chOff x="3687901" y="1221570"/>
            <a:chExt cx="1717002" cy="1246754"/>
          </a:xfrm>
        </p:grpSpPr>
        <p:sp>
          <p:nvSpPr>
            <p:cNvPr id="199" name="Google Shape;199;g34b5e2d1407_2_1695"/>
            <p:cNvSpPr/>
            <p:nvPr/>
          </p:nvSpPr>
          <p:spPr>
            <a:xfrm rot="-1789476">
              <a:off x="4468320" y="2278597"/>
              <a:ext cx="160451" cy="160451"/>
            </a:xfrm>
            <a:prstGeom prst="ellipse">
              <a:avLst/>
            </a:prstGeom>
            <a:solidFill>
              <a:schemeClr val="accent6"/>
            </a:solidFill>
            <a:ln cap="flat" cmpd="sng" w="381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g34b5e2d1407_2_1695"/>
            <p:cNvSpPr/>
            <p:nvPr/>
          </p:nvSpPr>
          <p:spPr>
            <a:xfrm>
              <a:off x="3692203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98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201" name="Google Shape;201;g34b5e2d1407_2_1695"/>
            <p:cNvSpPr/>
            <p:nvPr/>
          </p:nvSpPr>
          <p:spPr>
            <a:xfrm rot="10800000">
              <a:off x="4503528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98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g34b5e2d1407_2_1695"/>
            <p:cNvSpPr txBox="1"/>
            <p:nvPr/>
          </p:nvSpPr>
          <p:spPr>
            <a:xfrm>
              <a:off x="3687901" y="1246336"/>
              <a:ext cx="1712700" cy="636900"/>
            </a:xfrm>
            <a:prstGeom prst="rect">
              <a:avLst/>
            </a:prstGeom>
            <a:solidFill>
              <a:srgbClr val="980000"/>
            </a:solidFill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700">
                  <a:solidFill>
                    <a:schemeClr val="accent6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Performed</a:t>
              </a:r>
              <a:r>
                <a:rPr lang="en-US" sz="1700">
                  <a:solidFill>
                    <a:schemeClr val="accent6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LIME analysis. </a:t>
              </a:r>
              <a:endParaRPr sz="1700">
                <a:solidFill>
                  <a:schemeClr val="accent6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03" name="Google Shape;203;g34b5e2d1407_2_1695"/>
          <p:cNvSpPr txBox="1"/>
          <p:nvPr/>
        </p:nvSpPr>
        <p:spPr>
          <a:xfrm>
            <a:off x="607750" y="1602050"/>
            <a:ext cx="3055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Performed a SHAP analysis to understand the importance of features in the XGBoost Regressor model. Choose the top 12 features</a:t>
            </a:r>
            <a:endParaRPr>
              <a:solidFill>
                <a:schemeClr val="accent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4" name="Google Shape;204;g34b5e2d1407_2_1695"/>
          <p:cNvSpPr txBox="1"/>
          <p:nvPr/>
        </p:nvSpPr>
        <p:spPr>
          <a:xfrm>
            <a:off x="8059738" y="1602050"/>
            <a:ext cx="3144600" cy="12186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en-US">
                <a:solidFill>
                  <a:schemeClr val="accent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Plotted graphs of k vs. inertia and k vs. silhouette score using different values of k to analyze clustering performance.</a:t>
            </a:r>
            <a:endParaRPr>
              <a:solidFill>
                <a:schemeClr val="accent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4e9aff8091_1_0"/>
          <p:cNvSpPr/>
          <p:nvPr/>
        </p:nvSpPr>
        <p:spPr>
          <a:xfrm rot="-1024137">
            <a:off x="3907928" y="3967824"/>
            <a:ext cx="2057425" cy="110356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4e9aff8091_1_0"/>
          <p:cNvSpPr txBox="1"/>
          <p:nvPr>
            <p:ph type="title"/>
          </p:nvPr>
        </p:nvSpPr>
        <p:spPr>
          <a:xfrm>
            <a:off x="594300" y="266700"/>
            <a:ext cx="105156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solidFill>
                  <a:schemeClr val="dk1"/>
                </a:solidFill>
              </a:rPr>
              <a:t>Approach</a:t>
            </a:r>
            <a:endParaRPr/>
          </a:p>
        </p:txBody>
      </p:sp>
      <p:sp>
        <p:nvSpPr>
          <p:cNvPr id="211" name="Google Shape;211;g34e9aff8091_1_0"/>
          <p:cNvSpPr txBox="1"/>
          <p:nvPr>
            <p:ph idx="1" type="body"/>
          </p:nvPr>
        </p:nvSpPr>
        <p:spPr>
          <a:xfrm>
            <a:off x="-376625" y="1602042"/>
            <a:ext cx="10839300" cy="46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12" name="Google Shape;212;g34e9aff8091_1_0"/>
          <p:cNvSpPr/>
          <p:nvPr/>
        </p:nvSpPr>
        <p:spPr>
          <a:xfrm flipH="1" rot="1024137">
            <a:off x="2016049" y="3967824"/>
            <a:ext cx="2057425" cy="110356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4e9aff8091_1_0"/>
          <p:cNvSpPr/>
          <p:nvPr/>
        </p:nvSpPr>
        <p:spPr>
          <a:xfrm rot="-1024021">
            <a:off x="-64901" y="3998322"/>
            <a:ext cx="2265153" cy="110356"/>
          </a:xfrm>
          <a:prstGeom prst="roundRect">
            <a:avLst>
              <a:gd fmla="val 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4" name="Google Shape;214;g34e9aff8091_1_0"/>
          <p:cNvGrpSpPr/>
          <p:nvPr/>
        </p:nvGrpSpPr>
        <p:grpSpPr>
          <a:xfrm>
            <a:off x="2431701" y="4083772"/>
            <a:ext cx="3144517" cy="2354727"/>
            <a:chOff x="2683803" y="2543425"/>
            <a:chExt cx="1712700" cy="1230715"/>
          </a:xfrm>
        </p:grpSpPr>
        <p:sp>
          <p:nvSpPr>
            <p:cNvPr id="215" name="Google Shape;215;g34e9aff8091_1_0"/>
            <p:cNvSpPr/>
            <p:nvPr/>
          </p:nvSpPr>
          <p:spPr>
            <a:xfrm rot="-1789476">
              <a:off x="3457142" y="2572699"/>
              <a:ext cx="160451" cy="160451"/>
            </a:xfrm>
            <a:prstGeom prst="ellipse">
              <a:avLst/>
            </a:prstGeom>
            <a:solidFill>
              <a:srgbClr val="FEFEFE"/>
            </a:solidFill>
            <a:ln cap="flat" cmpd="sng" w="38100">
              <a:solidFill>
                <a:srgbClr val="A729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g34e9aff8091_1_0"/>
            <p:cNvSpPr/>
            <p:nvPr/>
          </p:nvSpPr>
          <p:spPr>
            <a:xfrm>
              <a:off x="2683803" y="307064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98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217" name="Google Shape;217;g34e9aff8091_1_0"/>
            <p:cNvSpPr txBox="1"/>
            <p:nvPr/>
          </p:nvSpPr>
          <p:spPr>
            <a:xfrm>
              <a:off x="2728056" y="3098254"/>
              <a:ext cx="1624200" cy="643800"/>
            </a:xfrm>
            <a:prstGeom prst="rect">
              <a:avLst/>
            </a:prstGeom>
            <a:solidFill>
              <a:srgbClr val="980000"/>
            </a:solidFill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700">
                  <a:solidFill>
                    <a:schemeClr val="accent6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Plotted interactive radar plots for all the clusters (combined and individually) using plotly.</a:t>
              </a:r>
              <a:endParaRPr sz="1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8" name="Google Shape;218;g34e9aff8091_1_0"/>
            <p:cNvSpPr/>
            <p:nvPr/>
          </p:nvSpPr>
          <p:spPr>
            <a:xfrm>
              <a:off x="3495153" y="3005991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98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9" name="Google Shape;219;g34e9aff8091_1_0"/>
          <p:cNvGrpSpPr/>
          <p:nvPr/>
        </p:nvGrpSpPr>
        <p:grpSpPr>
          <a:xfrm>
            <a:off x="518680" y="1554665"/>
            <a:ext cx="3144517" cy="2385414"/>
            <a:chOff x="1641853" y="1221570"/>
            <a:chExt cx="1712700" cy="1246754"/>
          </a:xfrm>
        </p:grpSpPr>
        <p:sp>
          <p:nvSpPr>
            <p:cNvPr id="220" name="Google Shape;220;g34e9aff8091_1_0"/>
            <p:cNvSpPr/>
            <p:nvPr/>
          </p:nvSpPr>
          <p:spPr>
            <a:xfrm>
              <a:off x="1641853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98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221" name="Google Shape;221;g34e9aff8091_1_0"/>
            <p:cNvSpPr/>
            <p:nvPr/>
          </p:nvSpPr>
          <p:spPr>
            <a:xfrm rot="10800000">
              <a:off x="2453178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98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g34e9aff8091_1_0"/>
            <p:cNvSpPr/>
            <p:nvPr/>
          </p:nvSpPr>
          <p:spPr>
            <a:xfrm rot="-1789476">
              <a:off x="2415143" y="2278597"/>
              <a:ext cx="160451" cy="160451"/>
            </a:xfrm>
            <a:prstGeom prst="ellipse">
              <a:avLst/>
            </a:prstGeom>
            <a:solidFill>
              <a:schemeClr val="accent6"/>
            </a:solidFill>
            <a:ln cap="flat" cmpd="sng" w="381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3" name="Google Shape;223;g34e9aff8091_1_0"/>
          <p:cNvSpPr txBox="1"/>
          <p:nvPr/>
        </p:nvSpPr>
        <p:spPr>
          <a:xfrm>
            <a:off x="607750" y="1602050"/>
            <a:ext cx="30555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Calculated the mean RSI value for all the clusters</a:t>
            </a:r>
            <a:endParaRPr sz="1600">
              <a:solidFill>
                <a:schemeClr val="accent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4" name="Google Shape;224;g34e9aff8091_1_0"/>
          <p:cNvSpPr/>
          <p:nvPr/>
        </p:nvSpPr>
        <p:spPr>
          <a:xfrm flipH="1" rot="1024137">
            <a:off x="5785814" y="3967824"/>
            <a:ext cx="2057425" cy="110356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5" name="Google Shape;225;g34e9aff8091_1_0"/>
          <p:cNvGrpSpPr/>
          <p:nvPr/>
        </p:nvGrpSpPr>
        <p:grpSpPr>
          <a:xfrm>
            <a:off x="6196235" y="4083772"/>
            <a:ext cx="3144517" cy="2354727"/>
            <a:chOff x="4734203" y="2543425"/>
            <a:chExt cx="1712700" cy="1230715"/>
          </a:xfrm>
        </p:grpSpPr>
        <p:sp>
          <p:nvSpPr>
            <p:cNvPr id="226" name="Google Shape;226;g34e9aff8091_1_0"/>
            <p:cNvSpPr/>
            <p:nvPr/>
          </p:nvSpPr>
          <p:spPr>
            <a:xfrm rot="-1789476">
              <a:off x="5510320" y="2572699"/>
              <a:ext cx="160451" cy="160451"/>
            </a:xfrm>
            <a:prstGeom prst="ellipse">
              <a:avLst/>
            </a:prstGeom>
            <a:solidFill>
              <a:schemeClr val="accent6"/>
            </a:solidFill>
            <a:ln cap="flat" cmpd="sng" w="381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g34e9aff8091_1_0"/>
            <p:cNvSpPr/>
            <p:nvPr/>
          </p:nvSpPr>
          <p:spPr>
            <a:xfrm>
              <a:off x="4734203" y="307064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98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228" name="Google Shape;228;g34e9aff8091_1_0"/>
            <p:cNvSpPr txBox="1"/>
            <p:nvPr/>
          </p:nvSpPr>
          <p:spPr>
            <a:xfrm>
              <a:off x="4778451" y="3088794"/>
              <a:ext cx="1624200" cy="643800"/>
            </a:xfrm>
            <a:prstGeom prst="rect">
              <a:avLst/>
            </a:prstGeom>
            <a:solidFill>
              <a:srgbClr val="980000"/>
            </a:solidFill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accent6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Took top 5 features from permutation importance.</a:t>
              </a:r>
              <a:endParaRPr sz="1700">
                <a:solidFill>
                  <a:schemeClr val="accent6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29" name="Google Shape;229;g34e9aff8091_1_0"/>
            <p:cNvSpPr/>
            <p:nvPr/>
          </p:nvSpPr>
          <p:spPr>
            <a:xfrm>
              <a:off x="5545553" y="3005991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98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0" name="Google Shape;230;g34e9aff8091_1_0"/>
          <p:cNvGrpSpPr/>
          <p:nvPr/>
        </p:nvGrpSpPr>
        <p:grpSpPr>
          <a:xfrm>
            <a:off x="4275225" y="1554665"/>
            <a:ext cx="3152415" cy="2385414"/>
            <a:chOff x="3687901" y="1221570"/>
            <a:chExt cx="1717002" cy="1246754"/>
          </a:xfrm>
        </p:grpSpPr>
        <p:sp>
          <p:nvSpPr>
            <p:cNvPr id="231" name="Google Shape;231;g34e9aff8091_1_0"/>
            <p:cNvSpPr/>
            <p:nvPr/>
          </p:nvSpPr>
          <p:spPr>
            <a:xfrm rot="-1789476">
              <a:off x="4468320" y="2278597"/>
              <a:ext cx="160451" cy="160451"/>
            </a:xfrm>
            <a:prstGeom prst="ellipse">
              <a:avLst/>
            </a:prstGeom>
            <a:solidFill>
              <a:schemeClr val="accent6"/>
            </a:solidFill>
            <a:ln cap="flat" cmpd="sng" w="381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g34e9aff8091_1_0"/>
            <p:cNvSpPr/>
            <p:nvPr/>
          </p:nvSpPr>
          <p:spPr>
            <a:xfrm>
              <a:off x="3692203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98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233" name="Google Shape;233;g34e9aff8091_1_0"/>
            <p:cNvSpPr/>
            <p:nvPr/>
          </p:nvSpPr>
          <p:spPr>
            <a:xfrm rot="10800000">
              <a:off x="4503528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98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g34e9aff8091_1_0"/>
            <p:cNvSpPr txBox="1"/>
            <p:nvPr/>
          </p:nvSpPr>
          <p:spPr>
            <a:xfrm>
              <a:off x="3687901" y="1246336"/>
              <a:ext cx="1712700" cy="636900"/>
            </a:xfrm>
            <a:prstGeom prst="rect">
              <a:avLst/>
            </a:prstGeom>
            <a:solidFill>
              <a:srgbClr val="980000"/>
            </a:solidFill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lang="en-US" sz="1700">
                  <a:solidFill>
                    <a:schemeClr val="accent6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Characterised all the 4 clusters from the individual plots</a:t>
              </a:r>
              <a:endParaRPr sz="1700">
                <a:solidFill>
                  <a:schemeClr val="accent6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4b5e2d1407_0_10"/>
          <p:cNvSpPr txBox="1"/>
          <p:nvPr>
            <p:ph type="title"/>
          </p:nvPr>
        </p:nvSpPr>
        <p:spPr>
          <a:xfrm>
            <a:off x="0" y="-479125"/>
            <a:ext cx="1103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</a:pPr>
            <a:r>
              <a:rPr lang="en-US"/>
              <a:t>Results</a:t>
            </a:r>
            <a:endParaRPr/>
          </a:p>
        </p:txBody>
      </p:sp>
      <p:pic>
        <p:nvPicPr>
          <p:cNvPr id="240" name="Google Shape;240;g34b5e2d1407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7013" y="727775"/>
            <a:ext cx="6927924" cy="557194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34b5e2d1407_0_10"/>
          <p:cNvSpPr txBox="1"/>
          <p:nvPr/>
        </p:nvSpPr>
        <p:spPr>
          <a:xfrm>
            <a:off x="264525" y="884950"/>
            <a:ext cx="253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Helvetica Neue Light"/>
                <a:ea typeface="Helvetica Neue Light"/>
                <a:cs typeface="Helvetica Neue Light"/>
                <a:sym typeface="Helvetica Neue Light"/>
              </a:rPr>
              <a:t>Initial Correlation Matrix</a:t>
            </a:r>
            <a:endParaRPr sz="18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4b5e2d1407_0_15"/>
          <p:cNvSpPr txBox="1"/>
          <p:nvPr>
            <p:ph type="title"/>
          </p:nvPr>
        </p:nvSpPr>
        <p:spPr>
          <a:xfrm>
            <a:off x="0" y="266700"/>
            <a:ext cx="105156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</a:pPr>
            <a:r>
              <a:rPr lang="en-US"/>
              <a:t>Results</a:t>
            </a:r>
            <a:endParaRPr/>
          </a:p>
        </p:txBody>
      </p:sp>
      <p:pic>
        <p:nvPicPr>
          <p:cNvPr id="247" name="Google Shape;247;g34b5e2d1407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2050" y="948600"/>
            <a:ext cx="4547885" cy="4960801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34b5e2d1407_0_15"/>
          <p:cNvSpPr txBox="1"/>
          <p:nvPr/>
        </p:nvSpPr>
        <p:spPr>
          <a:xfrm>
            <a:off x="526650" y="109655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Shap Analysis</a:t>
            </a:r>
            <a:endParaRPr sz="21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4e953dede9_0_0"/>
          <p:cNvSpPr txBox="1"/>
          <p:nvPr>
            <p:ph type="title"/>
          </p:nvPr>
        </p:nvSpPr>
        <p:spPr>
          <a:xfrm>
            <a:off x="0" y="266700"/>
            <a:ext cx="111099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Helvetica Neue"/>
              <a:buNone/>
            </a:pPr>
            <a:r>
              <a:rPr lang="en-US"/>
              <a:t>Results</a:t>
            </a:r>
            <a:endParaRPr/>
          </a:p>
        </p:txBody>
      </p:sp>
      <p:pic>
        <p:nvPicPr>
          <p:cNvPr id="254" name="Google Shape;254;g34e953dede9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3525" y="1193875"/>
            <a:ext cx="6214508" cy="4960799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34e953dede9_0_0"/>
          <p:cNvSpPr txBox="1"/>
          <p:nvPr/>
        </p:nvSpPr>
        <p:spPr>
          <a:xfrm>
            <a:off x="43275" y="106770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Final</a:t>
            </a:r>
            <a:r>
              <a:rPr lang="en-US" sz="1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Correlation Matrix After Feature Reduction</a:t>
            </a:r>
            <a:endParaRPr sz="1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4e953dede9_0_6"/>
          <p:cNvSpPr txBox="1"/>
          <p:nvPr>
            <p:ph type="title"/>
          </p:nvPr>
        </p:nvSpPr>
        <p:spPr>
          <a:xfrm>
            <a:off x="0" y="266700"/>
            <a:ext cx="111099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Helvetica Neue"/>
              <a:buNone/>
            </a:pPr>
            <a:r>
              <a:rPr lang="en-US"/>
              <a:t>Results</a:t>
            </a:r>
            <a:endParaRPr/>
          </a:p>
        </p:txBody>
      </p:sp>
      <p:pic>
        <p:nvPicPr>
          <p:cNvPr id="261" name="Google Shape;261;g34e953dede9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0375" y="1316525"/>
            <a:ext cx="6887099" cy="496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34e953dede9_0_6"/>
          <p:cNvSpPr txBox="1"/>
          <p:nvPr/>
        </p:nvSpPr>
        <p:spPr>
          <a:xfrm>
            <a:off x="0" y="8778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Permutation Importance</a:t>
            </a:r>
            <a:endParaRPr sz="1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4e953dede9_0_12"/>
          <p:cNvSpPr txBox="1"/>
          <p:nvPr>
            <p:ph type="title"/>
          </p:nvPr>
        </p:nvSpPr>
        <p:spPr>
          <a:xfrm>
            <a:off x="48100" y="-281325"/>
            <a:ext cx="11062800" cy="95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</a:pPr>
            <a:r>
              <a:rPr lang="en-US"/>
              <a:t>Results</a:t>
            </a:r>
            <a:endParaRPr/>
          </a:p>
        </p:txBody>
      </p:sp>
      <p:pic>
        <p:nvPicPr>
          <p:cNvPr id="268" name="Google Shape;268;g34e953dede9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313" y="1489138"/>
            <a:ext cx="11001375" cy="45434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g34e953dede9_0_12"/>
          <p:cNvSpPr txBox="1"/>
          <p:nvPr/>
        </p:nvSpPr>
        <p:spPr>
          <a:xfrm>
            <a:off x="48100" y="6756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LIME Explanation</a:t>
            </a:r>
            <a:endParaRPr sz="1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4e953dede9_0_23"/>
          <p:cNvSpPr txBox="1"/>
          <p:nvPr>
            <p:ph type="title"/>
          </p:nvPr>
        </p:nvSpPr>
        <p:spPr>
          <a:xfrm>
            <a:off x="0" y="0"/>
            <a:ext cx="111099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</a:pPr>
            <a:r>
              <a:rPr lang="en-US"/>
              <a:t>Results</a:t>
            </a:r>
            <a:endParaRPr/>
          </a:p>
        </p:txBody>
      </p:sp>
      <p:pic>
        <p:nvPicPr>
          <p:cNvPr id="275" name="Google Shape;275;g34e953dede9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40000"/>
            <a:ext cx="11887202" cy="34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g34e953dede9_0_23"/>
          <p:cNvSpPr txBox="1"/>
          <p:nvPr/>
        </p:nvSpPr>
        <p:spPr>
          <a:xfrm>
            <a:off x="0" y="952300"/>
            <a:ext cx="49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Plots of Elbow Method and </a:t>
            </a:r>
            <a:r>
              <a:rPr lang="en-US" sz="1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Silhouette</a:t>
            </a:r>
            <a:r>
              <a:rPr lang="en-US" sz="1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score</a:t>
            </a:r>
            <a:endParaRPr sz="1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4e953dede9_0_28"/>
          <p:cNvSpPr txBox="1"/>
          <p:nvPr>
            <p:ph type="title"/>
          </p:nvPr>
        </p:nvSpPr>
        <p:spPr>
          <a:xfrm>
            <a:off x="0" y="0"/>
            <a:ext cx="111099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</a:pPr>
            <a:r>
              <a:rPr lang="en-US"/>
              <a:t>Results</a:t>
            </a:r>
            <a:endParaRPr/>
          </a:p>
        </p:txBody>
      </p:sp>
      <p:pic>
        <p:nvPicPr>
          <p:cNvPr id="282" name="Google Shape;282;g34e953dede9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7475" y="1759700"/>
            <a:ext cx="7480174" cy="410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g34e953dede9_0_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375" y="1759700"/>
            <a:ext cx="4224225" cy="4107974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g34e953dede9_0_28"/>
          <p:cNvSpPr txBox="1"/>
          <p:nvPr/>
        </p:nvSpPr>
        <p:spPr>
          <a:xfrm>
            <a:off x="0" y="800775"/>
            <a:ext cx="989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Cluster-wise Athlete Distribution and a Consolidated Radar Plot Representing All Clusters</a:t>
            </a:r>
            <a:endParaRPr sz="1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4e953dede9_0_53"/>
          <p:cNvSpPr txBox="1"/>
          <p:nvPr>
            <p:ph type="title"/>
          </p:nvPr>
        </p:nvSpPr>
        <p:spPr>
          <a:xfrm>
            <a:off x="0" y="0"/>
            <a:ext cx="111099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</a:pPr>
            <a:r>
              <a:rPr lang="en-US"/>
              <a:t>Results</a:t>
            </a:r>
            <a:endParaRPr/>
          </a:p>
        </p:txBody>
      </p:sp>
      <p:pic>
        <p:nvPicPr>
          <p:cNvPr id="290" name="Google Shape;290;g34e953dede9_0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0700" y="1506600"/>
            <a:ext cx="7062074" cy="3570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4e953dede9_0_33"/>
          <p:cNvSpPr txBox="1"/>
          <p:nvPr>
            <p:ph type="title"/>
          </p:nvPr>
        </p:nvSpPr>
        <p:spPr>
          <a:xfrm>
            <a:off x="0" y="0"/>
            <a:ext cx="11109900" cy="69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</a:pPr>
            <a:r>
              <a:rPr lang="en-US"/>
              <a:t>Results</a:t>
            </a:r>
            <a:endParaRPr/>
          </a:p>
        </p:txBody>
      </p:sp>
      <p:pic>
        <p:nvPicPr>
          <p:cNvPr id="296" name="Google Shape;296;g34e953dede9_0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3475" y="1285875"/>
            <a:ext cx="847725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4e953dede9_0_38"/>
          <p:cNvSpPr txBox="1"/>
          <p:nvPr>
            <p:ph type="title"/>
          </p:nvPr>
        </p:nvSpPr>
        <p:spPr>
          <a:xfrm>
            <a:off x="0" y="0"/>
            <a:ext cx="111099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Helvetica Neue"/>
              <a:buNone/>
            </a:pPr>
            <a:r>
              <a:rPr lang="en-US"/>
              <a:t>Results</a:t>
            </a:r>
            <a:endParaRPr/>
          </a:p>
        </p:txBody>
      </p:sp>
      <p:pic>
        <p:nvPicPr>
          <p:cNvPr id="302" name="Google Shape;302;g34e953dede9_0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3475" y="1285875"/>
            <a:ext cx="847725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4e953dede9_0_48"/>
          <p:cNvSpPr txBox="1"/>
          <p:nvPr>
            <p:ph type="title"/>
          </p:nvPr>
        </p:nvSpPr>
        <p:spPr>
          <a:xfrm>
            <a:off x="0" y="28875"/>
            <a:ext cx="105156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Helvetica Neue"/>
              <a:buNone/>
            </a:pPr>
            <a:r>
              <a:rPr lang="en-US"/>
              <a:t>Results</a:t>
            </a:r>
            <a:endParaRPr/>
          </a:p>
        </p:txBody>
      </p:sp>
      <p:pic>
        <p:nvPicPr>
          <p:cNvPr id="308" name="Google Shape;308;g34e953dede9_0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1600" y="1430175"/>
            <a:ext cx="847725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4b919017b4_0_0"/>
          <p:cNvSpPr txBox="1"/>
          <p:nvPr>
            <p:ph type="title"/>
          </p:nvPr>
        </p:nvSpPr>
        <p:spPr>
          <a:xfrm>
            <a:off x="0" y="28875"/>
            <a:ext cx="105156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Helvetica Neue"/>
              <a:buNone/>
            </a:pPr>
            <a:r>
              <a:rPr lang="en-US"/>
              <a:t>Results</a:t>
            </a:r>
            <a:endParaRPr/>
          </a:p>
        </p:txBody>
      </p:sp>
      <p:sp>
        <p:nvSpPr>
          <p:cNvPr id="314" name="Google Shape;314;g34b919017b4_0_0"/>
          <p:cNvSpPr txBox="1"/>
          <p:nvPr/>
        </p:nvSpPr>
        <p:spPr>
          <a:xfrm>
            <a:off x="48100" y="646875"/>
            <a:ext cx="399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Helvetica Neue Light"/>
                <a:ea typeface="Helvetica Neue Light"/>
                <a:cs typeface="Helvetica Neue Light"/>
                <a:sym typeface="Helvetica Neue Light"/>
              </a:rPr>
              <a:t>Cluster Interpretation</a:t>
            </a:r>
            <a:endParaRPr sz="28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aphicFrame>
        <p:nvGraphicFramePr>
          <p:cNvPr id="315" name="Google Shape;315;g34b919017b4_0_0"/>
          <p:cNvGraphicFramePr/>
          <p:nvPr/>
        </p:nvGraphicFramePr>
        <p:xfrm>
          <a:off x="952500" y="146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{21012E09-EC1A-417B-9EBB-57A7D2FA0C0C}</a:tableStyleId>
              </a:tblPr>
              <a:tblGrid>
                <a:gridCol w="2097750"/>
                <a:gridCol w="2100175"/>
                <a:gridCol w="6485850"/>
              </a:tblGrid>
              <a:tr h="483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Cluster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Athlete Type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Interpretation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004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Elite Endurance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High HRV, low respiratory rate, moderate sleep consistency. Indicates strong recovery and stamina-focused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athlete.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004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Recovering/Resting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High sleep duration and respiratory rate. Likely in recovery phase post-intense training.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004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Stressed/Overtrained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Low HRV, low sleep, high respiratory rate. Suggests poor recovery or overtraining symptoms.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83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Well-Balanced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Moderate across all features. </a:t>
                      </a:r>
                      <a:r>
                        <a:rPr lang="en-US"/>
                        <a:t>R</a:t>
                      </a:r>
                      <a:r>
                        <a:rPr lang="en-US"/>
                        <a:t>epresents balanced, healthy athletic status.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4b5e2d1407_1_0"/>
          <p:cNvSpPr txBox="1"/>
          <p:nvPr/>
        </p:nvSpPr>
        <p:spPr>
          <a:xfrm>
            <a:off x="516000" y="1310575"/>
            <a:ext cx="10515600" cy="50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300"/>
              <a:buFont typeface="Helvetica Neue Light"/>
              <a:buChar char="●"/>
            </a:pPr>
            <a:r>
              <a:rPr lang="en-US" sz="23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Using GridSearchCV or RandomizedSearchCV will help identify the optimal model parameters, improving accuracy. </a:t>
            </a:r>
            <a:endParaRPr sz="23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3746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300"/>
              <a:buFont typeface="Helvetica Neue Light"/>
              <a:buChar char="●"/>
            </a:pPr>
            <a:r>
              <a:rPr lang="en-US" sz="23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Techniques like Stratified K-Fold and Leave-One-Out Cross-Validation ensure robust and unbiased model evaluation.</a:t>
            </a:r>
            <a:endParaRPr sz="23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3746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 Light"/>
              <a:buChar char="●"/>
            </a:pPr>
            <a:r>
              <a:rPr lang="en-US" sz="23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Instead of selecting the top four features based on Permutation Importance for clustering, dimensionality reduction techniques like Principal Component Analysis (PCA) could be used.</a:t>
            </a:r>
            <a:endParaRPr sz="23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21" name="Google Shape;321;g34b5e2d1407_1_0"/>
          <p:cNvSpPr txBox="1"/>
          <p:nvPr>
            <p:ph type="title"/>
          </p:nvPr>
        </p:nvSpPr>
        <p:spPr>
          <a:xfrm>
            <a:off x="516000" y="87625"/>
            <a:ext cx="105156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Further Improvements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"/>
          <p:cNvSpPr txBox="1"/>
          <p:nvPr>
            <p:ph type="title"/>
          </p:nvPr>
        </p:nvSpPr>
        <p:spPr>
          <a:xfrm>
            <a:off x="594300" y="266700"/>
            <a:ext cx="10515600" cy="88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</a:pPr>
            <a:r>
              <a:rPr lang="en-US" sz="4000">
                <a:solidFill>
                  <a:srgbClr val="000000"/>
                </a:solidFill>
              </a:rPr>
              <a:t>References</a:t>
            </a:r>
            <a:endParaRPr/>
          </a:p>
        </p:txBody>
      </p:sp>
      <p:sp>
        <p:nvSpPr>
          <p:cNvPr id="327" name="Google Shape;327;p10"/>
          <p:cNvSpPr txBox="1"/>
          <p:nvPr>
            <p:ph idx="1" type="body"/>
          </p:nvPr>
        </p:nvSpPr>
        <p:spPr>
          <a:xfrm>
            <a:off x="582425" y="1305489"/>
            <a:ext cx="10515600" cy="4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33655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Senbel, S., Sharma, S., Raval, M. S., Taber, C., Nolan, J., Artan, N. S., ... &amp; Kaya, T. (2022). Impact of sleep and training on game performance and injury in division-1 women’s Basketball Amidst the Pandemic. Ieee Access, 10, 15516-15527. </a:t>
            </a:r>
            <a:r>
              <a:rPr lang="en-US" sz="1700" u="sng">
                <a:solidFill>
                  <a:schemeClr val="hlink"/>
                </a:solidFill>
                <a:hlinkClick r:id="rId3"/>
              </a:rPr>
              <a:t>https://ieeexplore.ieee.org/abstract/document/9690164/</a:t>
            </a:r>
            <a:endParaRPr sz="1700"/>
          </a:p>
          <a:p>
            <a:pPr indent="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Taber, C.B., Sharma, S., Raval, M.S. et al. A holistic approach to performance prediction in collegiate athletics: player, team, and conference perspectives. Sci Rep 14, 1162 (2024). </a:t>
            </a:r>
            <a:r>
              <a:rPr lang="en-US" sz="1700" u="sng">
                <a:solidFill>
                  <a:schemeClr val="hlink"/>
                </a:solidFill>
                <a:hlinkClick r:id="rId4"/>
              </a:rPr>
              <a:t>https://doi.org/10.1038/s41598-024-51658-8</a:t>
            </a:r>
            <a:endParaRPr sz="1700"/>
          </a:p>
          <a:p>
            <a:pPr indent="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Sharma, S. U., Divakaran, S., Kaya, T., &amp; Raval, M. (2022, July). A Hybrid Approach for Interpretable Game Performance Prediction in Basketball. In 2022 International Joint Conference on Neural Networks (IJCNN) (pp. 01-08). IEEE.  </a:t>
            </a:r>
            <a:r>
              <a:rPr lang="en-US" sz="1700" u="sng">
                <a:solidFill>
                  <a:schemeClr val="hlink"/>
                </a:solidFill>
                <a:hlinkClick r:id="rId5"/>
              </a:rPr>
              <a:t>https://ieeexplore.ieee.org/abstract/document/9892583/?casa_token=Ye3GQJ1JpD0AAAAA:GSlyds24pIa__7Od6UBSNs8nugbEwLvCbI8vG6w-YMYrFX2O-TUlUDo4xej3ulJUAvmO_4ij0J36</a:t>
            </a:r>
            <a:endParaRPr sz="1700"/>
          </a:p>
          <a:p>
            <a:pPr indent="0" lvl="0" marL="9144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en-US" sz="1600"/>
              <a:t> </a:t>
            </a:r>
            <a:endParaRPr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4b87b13e54_0_18"/>
          <p:cNvSpPr txBox="1"/>
          <p:nvPr>
            <p:ph type="title"/>
          </p:nvPr>
        </p:nvSpPr>
        <p:spPr>
          <a:xfrm>
            <a:off x="594300" y="266700"/>
            <a:ext cx="10515600" cy="88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</a:pPr>
            <a:r>
              <a:rPr lang="en-US" sz="4000">
                <a:solidFill>
                  <a:srgbClr val="000000"/>
                </a:solidFill>
              </a:rPr>
              <a:t>References</a:t>
            </a:r>
            <a:endParaRPr/>
          </a:p>
        </p:txBody>
      </p:sp>
      <p:sp>
        <p:nvSpPr>
          <p:cNvPr id="333" name="Google Shape;333;g34b87b13e54_0_18"/>
          <p:cNvSpPr txBox="1"/>
          <p:nvPr>
            <p:ph idx="1" type="body"/>
          </p:nvPr>
        </p:nvSpPr>
        <p:spPr>
          <a:xfrm>
            <a:off x="582425" y="1305489"/>
            <a:ext cx="10515600" cy="4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33655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700"/>
              <a:buAutoNum type="arabicPeriod" startAt="4"/>
            </a:pPr>
            <a:r>
              <a:rPr lang="en-US" sz="1700"/>
              <a:t>Azur, M. J., Stuart, E. A., Frangakis, C., Leaf, P. J. (2011). Multiple imputation by chained equations: what is it and how does it work?. International journal of methods in psychiatric research, 20(1), 40–49. </a:t>
            </a:r>
            <a:r>
              <a:rPr lang="en-US" sz="1700" u="sng">
                <a:solidFill>
                  <a:schemeClr val="hlink"/>
                </a:solidFill>
                <a:hlinkClick r:id="rId3"/>
              </a:rPr>
              <a:t>https://doi.org/10.1002/mpr.329</a:t>
            </a:r>
            <a:endParaRPr sz="1700"/>
          </a:p>
          <a:p>
            <a:pPr indent="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700"/>
              <a:buAutoNum type="arabicPeriod" startAt="4"/>
            </a:pPr>
            <a:r>
              <a:rPr lang="en-US" sz="1700"/>
              <a:t>K means Clustering: GfG. (2023, December 21). K means clustering - introduction. GeeksforGeeks.</a:t>
            </a:r>
            <a:endParaRPr sz="1700"/>
          </a:p>
          <a:p>
            <a:pPr indent="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700"/>
              <a:buAutoNum type="arabicPeriod" startAt="4"/>
            </a:pPr>
            <a:r>
              <a:rPr lang="en-US" sz="1700"/>
              <a:t>SHAP Documentation Team, “An introduction to explainable AI with Shapley values — SHAP latest documentation.” </a:t>
            </a:r>
            <a:r>
              <a:rPr lang="en-US" sz="1700"/>
              <a:t>A</a:t>
            </a:r>
            <a:r>
              <a:rPr lang="en-US" sz="1700"/>
              <a:t>vailable:</a:t>
            </a:r>
            <a:r>
              <a:rPr lang="en-US" sz="1700" u="sng">
                <a:solidFill>
                  <a:schemeClr val="hlink"/>
                </a:solidFill>
                <a:hlinkClick r:id="rId4"/>
              </a:rPr>
              <a:t>https://shap.readthedocs.io/en/latest/example_notebooks/overviews/An%20introduction%20to%20explainable%20AI%20with%20Shapley%20values.html</a:t>
            </a:r>
            <a:r>
              <a:rPr lang="en-US" sz="1700"/>
              <a:t>, Accessed: Apr. 11, 2025.</a:t>
            </a:r>
            <a:endParaRPr sz="1700"/>
          </a:p>
          <a:p>
            <a:pPr indent="0" lvl="0" marL="9144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en-US" sz="1600"/>
              <a:t> </a:t>
            </a:r>
            <a:endParaRPr sz="1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4b87b13e54_0_27"/>
          <p:cNvSpPr txBox="1"/>
          <p:nvPr>
            <p:ph type="title"/>
          </p:nvPr>
        </p:nvSpPr>
        <p:spPr>
          <a:xfrm>
            <a:off x="594300" y="266700"/>
            <a:ext cx="10515600" cy="88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</a:pPr>
            <a:r>
              <a:rPr lang="en-US" sz="4000">
                <a:solidFill>
                  <a:srgbClr val="000000"/>
                </a:solidFill>
              </a:rPr>
              <a:t>References</a:t>
            </a:r>
            <a:endParaRPr/>
          </a:p>
        </p:txBody>
      </p:sp>
      <p:sp>
        <p:nvSpPr>
          <p:cNvPr id="339" name="Google Shape;339;g34b87b13e54_0_27"/>
          <p:cNvSpPr txBox="1"/>
          <p:nvPr>
            <p:ph idx="1" type="body"/>
          </p:nvPr>
        </p:nvSpPr>
        <p:spPr>
          <a:xfrm>
            <a:off x="582425" y="1305489"/>
            <a:ext cx="10515600" cy="4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33655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700"/>
              <a:buAutoNum type="arabicPeriod" startAt="7"/>
            </a:pPr>
            <a:r>
              <a:rPr lang="en-US" sz="1700"/>
              <a:t>“Radar charts,” Plotly. Available: </a:t>
            </a:r>
            <a:r>
              <a:rPr lang="en-US" sz="1700" u="sng">
                <a:solidFill>
                  <a:schemeClr val="hlink"/>
                </a:solidFill>
                <a:hlinkClick r:id="rId3"/>
              </a:rPr>
              <a:t>https://plotly.com/python/radar-chart/</a:t>
            </a:r>
            <a:endParaRPr sz="1700"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700"/>
              <a:buAutoNum type="arabicPeriod" startAt="7"/>
            </a:pPr>
            <a:r>
              <a:rPr lang="en-US" sz="1700"/>
              <a:t>“LIME documentation,” LIME. Available: </a:t>
            </a:r>
            <a:r>
              <a:rPr lang="en-US" sz="1700" u="sng">
                <a:solidFill>
                  <a:schemeClr val="hlink"/>
                </a:solidFill>
                <a:hlinkClick r:id="rId4"/>
              </a:rPr>
              <a:t>https://lime.readthedocs.io/en/latest/</a:t>
            </a:r>
            <a:endParaRPr sz="1700"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700"/>
              <a:buAutoNum type="arabicPeriod" startAt="7"/>
            </a:pPr>
            <a:r>
              <a:rPr lang="en-US" sz="1700"/>
              <a:t>“RFE,” Scikit-learn. Available: </a:t>
            </a:r>
            <a:r>
              <a:rPr lang="en-US" sz="1700" u="sng">
                <a:solidFill>
                  <a:schemeClr val="hlink"/>
                </a:solidFill>
                <a:hlinkClick r:id="rId5"/>
              </a:rPr>
              <a:t>https://scikit-learn.org/stable/modules/generated/sklearn.feature_selection.RFE.html</a:t>
            </a:r>
            <a:endParaRPr sz="17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41642a7d87_3_3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41642a7d87_3_3"/>
          <p:cNvSpPr txBox="1"/>
          <p:nvPr>
            <p:ph idx="1" type="body"/>
          </p:nvPr>
        </p:nvSpPr>
        <p:spPr>
          <a:xfrm>
            <a:off x="582425" y="266700"/>
            <a:ext cx="10515600" cy="58533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5200"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b="1" sz="5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707070"/>
      </a:accent5>
      <a:accent6>
        <a:srgbClr val="FEFFFF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2F1EE"/>
      </a:lt1>
      <a:dk2>
        <a:srgbClr val="A7A7A7"/>
      </a:dk2>
      <a:lt2>
        <a:srgbClr val="535353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707070"/>
      </a:accent5>
      <a:accent6>
        <a:srgbClr val="FEFFFF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