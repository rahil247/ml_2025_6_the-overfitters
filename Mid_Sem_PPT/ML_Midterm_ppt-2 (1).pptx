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Helvetica Neue" panose="020B0604020202020204" charset="0"/>
      <p:regular r:id="rId18"/>
      <p:bold r:id="rId19"/>
      <p:italic r:id="rId20"/>
      <p:boldItalic r:id="rId21"/>
    </p:embeddedFont>
    <p:embeddedFont>
      <p:font typeface="Helvetica Neue Light"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5RwzCGUuour4oweQjyHPA0h2m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4252EE-09FB-4110-B3B1-24AD7A4449AA}">
  <a:tblStyle styleId="{354252EE-09FB-4110-B3B1-24AD7A4449A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EE692E04-22D4-428F-9DFE-49AED598DD1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c3ff8a06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g2c3ff8a06be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358eca5d40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g3358eca5d40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c3ff8a06be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3" name="Google Shape;133;g2c3ff8a06be_0_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407af7eea2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g3407af7eea2_0_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358eca5d40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g3358eca5d40_0_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41dfefe2e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g341dfefe2e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40ec16cb0e_0_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40ec16cb0e_0_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40ec16cb0e_0_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40ec16cb0e_0_6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0ec16cb0e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40ec16cb0e_0_7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407af7eea2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g3407af7eea2_0_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41642a7d87_3_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41642a7d87_3_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4"/>
        <p:cNvGrpSpPr/>
        <p:nvPr/>
      </p:nvGrpSpPr>
      <p:grpSpPr>
        <a:xfrm>
          <a:off x="0" y="0"/>
          <a:ext cx="0" cy="0"/>
          <a:chOff x="0" y="0"/>
          <a:chExt cx="0" cy="0"/>
        </a:xfrm>
      </p:grpSpPr>
      <p:sp>
        <p:nvSpPr>
          <p:cNvPr id="15" name="Google Shape;15;p12"/>
          <p:cNvSpPr txBox="1">
            <a:spLocks noGrp="1"/>
          </p:cNvSpPr>
          <p:nvPr>
            <p:ph type="title"/>
          </p:nvPr>
        </p:nvSpPr>
        <p:spPr>
          <a:xfrm>
            <a:off x="844150" y="3874808"/>
            <a:ext cx="10515601" cy="835417"/>
          </a:xfrm>
          <a:prstGeom prst="rect">
            <a:avLst/>
          </a:prstGeom>
          <a:noFill/>
          <a:ln>
            <a:noFill/>
          </a:ln>
        </p:spPr>
        <p:txBody>
          <a:bodyPr spcFirstLastPara="1" wrap="square" lIns="45700" tIns="45700" rIns="45700" bIns="45700" anchor="t" anchorCtr="0">
            <a:normAutofit/>
          </a:bodyPr>
          <a:lstStyle>
            <a:lvl1pPr lvl="0" algn="ctr">
              <a:lnSpc>
                <a:spcPct val="90000"/>
              </a:lnSpc>
              <a:spcBef>
                <a:spcPts val="0"/>
              </a:spcBef>
              <a:spcAft>
                <a:spcPts val="0"/>
              </a:spcAft>
              <a:buClr>
                <a:srgbClr val="FEFEFE"/>
              </a:buClr>
              <a:buSzPts val="1800"/>
              <a:buNone/>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16" name="Google Shape;16;p12"/>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rgbClr val="F2F1EE"/>
        </a:solidFill>
        <a:effectLst/>
      </p:bgPr>
    </p:bg>
    <p:spTree>
      <p:nvGrpSpPr>
        <p:cNvPr id="1" name="Shape 17"/>
        <p:cNvGrpSpPr/>
        <p:nvPr/>
      </p:nvGrpSpPr>
      <p:grpSpPr>
        <a:xfrm>
          <a:off x="0" y="0"/>
          <a:ext cx="0" cy="0"/>
          <a:chOff x="0" y="0"/>
          <a:chExt cx="0" cy="0"/>
        </a:xfrm>
      </p:grpSpPr>
      <p:grpSp>
        <p:nvGrpSpPr>
          <p:cNvPr id="18" name="Google Shape;18;p13"/>
          <p:cNvGrpSpPr/>
          <p:nvPr/>
        </p:nvGrpSpPr>
        <p:grpSpPr>
          <a:xfrm>
            <a:off x="-2" y="6756400"/>
            <a:ext cx="12192004" cy="105497"/>
            <a:chOff x="-1" y="0"/>
            <a:chExt cx="12192002" cy="105496"/>
          </a:xfrm>
        </p:grpSpPr>
        <p:pic>
          <p:nvPicPr>
            <p:cNvPr id="19" name="Google Shape;19;p13"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20" name="Google Shape;20;p13"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21" name="Google Shape;21;p13"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22" name="Google Shape;22;p13"/>
          <p:cNvSpPr txBox="1">
            <a:spLocks noGrp="1"/>
          </p:cNvSpPr>
          <p:nvPr>
            <p:ph type="title"/>
          </p:nvPr>
        </p:nvSpPr>
        <p:spPr>
          <a:xfrm>
            <a:off x="594303" y="266700"/>
            <a:ext cx="10515601" cy="1325563"/>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4000"/>
              <a:buFont typeface="Helvetica Neue"/>
              <a:buNone/>
              <a:defRPr sz="4000">
                <a:solidFill>
                  <a:srgbClr val="000000"/>
                </a:solidFill>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23" name="Google Shape;23;p13"/>
          <p:cNvSpPr txBox="1">
            <a:spLocks noGrp="1"/>
          </p:cNvSpPr>
          <p:nvPr>
            <p:ph type="body" idx="1"/>
          </p:nvPr>
        </p:nvSpPr>
        <p:spPr>
          <a:xfrm>
            <a:off x="582426" y="1768949"/>
            <a:ext cx="10515601" cy="4351339"/>
          </a:xfrm>
          <a:prstGeom prst="rect">
            <a:avLst/>
          </a:prstGeom>
          <a:noFill/>
          <a:ln>
            <a:noFill/>
          </a:ln>
        </p:spPr>
        <p:txBody>
          <a:bodyPr spcFirstLastPara="1" wrap="square" lIns="45700" tIns="45700" rIns="45700" bIns="45700" anchor="t" anchorCtr="0">
            <a:normAutofit/>
          </a:bodyPr>
          <a:lstStyle>
            <a:lvl1pPr marL="457200" lvl="0" indent="-381000" algn="l">
              <a:lnSpc>
                <a:spcPct val="90000"/>
              </a:lnSpc>
              <a:spcBef>
                <a:spcPts val="1000"/>
              </a:spcBef>
              <a:spcAft>
                <a:spcPts val="0"/>
              </a:spcAft>
              <a:buClr>
                <a:srgbClr val="000000"/>
              </a:buClr>
              <a:buSzPts val="2400"/>
              <a:buFont typeface="Helvetica Neue Light"/>
              <a:buChar char="•"/>
              <a:defRPr sz="2400"/>
            </a:lvl1pPr>
            <a:lvl2pPr marL="914400" lvl="1" indent="-381000" algn="l">
              <a:lnSpc>
                <a:spcPct val="90000"/>
              </a:lnSpc>
              <a:spcBef>
                <a:spcPts val="1000"/>
              </a:spcBef>
              <a:spcAft>
                <a:spcPts val="0"/>
              </a:spcAft>
              <a:buClr>
                <a:srgbClr val="000000"/>
              </a:buClr>
              <a:buSzPts val="2400"/>
              <a:buFont typeface="Helvetica Neue Light"/>
              <a:buChar char="•"/>
              <a:defRPr sz="2400"/>
            </a:lvl2pPr>
            <a:lvl3pPr marL="1371600" lvl="2" indent="-381000" algn="l">
              <a:lnSpc>
                <a:spcPct val="90000"/>
              </a:lnSpc>
              <a:spcBef>
                <a:spcPts val="1000"/>
              </a:spcBef>
              <a:spcAft>
                <a:spcPts val="0"/>
              </a:spcAft>
              <a:buClr>
                <a:srgbClr val="000000"/>
              </a:buClr>
              <a:buSzPts val="2400"/>
              <a:buFont typeface="Helvetica Neue Light"/>
              <a:buChar char="•"/>
              <a:defRPr sz="2400"/>
            </a:lvl3pPr>
            <a:lvl4pPr marL="1828800" lvl="3" indent="-381000" algn="l">
              <a:lnSpc>
                <a:spcPct val="90000"/>
              </a:lnSpc>
              <a:spcBef>
                <a:spcPts val="1000"/>
              </a:spcBef>
              <a:spcAft>
                <a:spcPts val="0"/>
              </a:spcAft>
              <a:buClr>
                <a:srgbClr val="000000"/>
              </a:buClr>
              <a:buSzPts val="2400"/>
              <a:buFont typeface="Helvetica Neue Light"/>
              <a:buChar char="•"/>
              <a:defRPr sz="2400"/>
            </a:lvl4pPr>
            <a:lvl5pPr marL="2286000" lvl="4" indent="-381000" algn="l">
              <a:lnSpc>
                <a:spcPct val="90000"/>
              </a:lnSpc>
              <a:spcBef>
                <a:spcPts val="1000"/>
              </a:spcBef>
              <a:spcAft>
                <a:spcPts val="0"/>
              </a:spcAft>
              <a:buClr>
                <a:srgbClr val="000000"/>
              </a:buClr>
              <a:buSzPts val="2400"/>
              <a:buFont typeface="Helvetica Neue Light"/>
              <a:buChar char="•"/>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24" name="Google Shape;24;p13"/>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25" name="Google Shape;25;p13" descr="Picture 16"/>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rgbClr val="F2F1EE"/>
        </a:solidFill>
        <a:effectLst/>
      </p:bgPr>
    </p:bg>
    <p:spTree>
      <p:nvGrpSpPr>
        <p:cNvPr id="1" name="Shape 26"/>
        <p:cNvGrpSpPr/>
        <p:nvPr/>
      </p:nvGrpSpPr>
      <p:grpSpPr>
        <a:xfrm>
          <a:off x="0" y="0"/>
          <a:ext cx="0" cy="0"/>
          <a:chOff x="0" y="0"/>
          <a:chExt cx="0" cy="0"/>
        </a:xfrm>
      </p:grpSpPr>
      <p:grpSp>
        <p:nvGrpSpPr>
          <p:cNvPr id="27" name="Google Shape;27;p14"/>
          <p:cNvGrpSpPr/>
          <p:nvPr/>
        </p:nvGrpSpPr>
        <p:grpSpPr>
          <a:xfrm>
            <a:off x="-2" y="6756400"/>
            <a:ext cx="12192004" cy="105497"/>
            <a:chOff x="-1" y="0"/>
            <a:chExt cx="12192002" cy="105496"/>
          </a:xfrm>
        </p:grpSpPr>
        <p:pic>
          <p:nvPicPr>
            <p:cNvPr id="28" name="Google Shape;28;p14"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29" name="Google Shape;29;p14"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30" name="Google Shape;30;p14"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31" name="Google Shape;31;p14"/>
          <p:cNvSpPr txBox="1">
            <a:spLocks noGrp="1"/>
          </p:cNvSpPr>
          <p:nvPr>
            <p:ph type="title"/>
          </p:nvPr>
        </p:nvSpPr>
        <p:spPr>
          <a:xfrm>
            <a:off x="831850" y="1709738"/>
            <a:ext cx="10515600" cy="2852737"/>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7D1916"/>
              </a:buClr>
              <a:buSzPts val="5400"/>
              <a:buFont typeface="Helvetica Neue"/>
              <a:buNone/>
              <a:defRPr sz="5400">
                <a:solidFill>
                  <a:srgbClr val="7D1916"/>
                </a:solidFill>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32" name="Google Shape;32;p14"/>
          <p:cNvSpPr txBox="1">
            <a:spLocks noGrp="1"/>
          </p:cNvSpPr>
          <p:nvPr>
            <p:ph type="body" idx="1"/>
          </p:nvPr>
        </p:nvSpPr>
        <p:spPr>
          <a:xfrm>
            <a:off x="831850" y="4589462"/>
            <a:ext cx="10515600" cy="150018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000"/>
              <a:buFont typeface="Helvetica Neue Light"/>
              <a:buNone/>
              <a:defRPr sz="2000">
                <a:solidFill>
                  <a:srgbClr val="888888"/>
                </a:solidFill>
              </a:defRPr>
            </a:lvl1pPr>
            <a:lvl2pPr marL="914400" lvl="1" indent="-228600" algn="l">
              <a:lnSpc>
                <a:spcPct val="90000"/>
              </a:lnSpc>
              <a:spcBef>
                <a:spcPts val="1000"/>
              </a:spcBef>
              <a:spcAft>
                <a:spcPts val="0"/>
              </a:spcAft>
              <a:buClr>
                <a:srgbClr val="888888"/>
              </a:buClr>
              <a:buSzPts val="2000"/>
              <a:buFont typeface="Helvetica Neue Light"/>
              <a:buNone/>
              <a:defRPr sz="2000">
                <a:solidFill>
                  <a:srgbClr val="888888"/>
                </a:solidFill>
              </a:defRPr>
            </a:lvl2pPr>
            <a:lvl3pPr marL="1371600" lvl="2" indent="-228600" algn="l">
              <a:lnSpc>
                <a:spcPct val="90000"/>
              </a:lnSpc>
              <a:spcBef>
                <a:spcPts val="1000"/>
              </a:spcBef>
              <a:spcAft>
                <a:spcPts val="0"/>
              </a:spcAft>
              <a:buClr>
                <a:srgbClr val="888888"/>
              </a:buClr>
              <a:buSzPts val="2000"/>
              <a:buFont typeface="Helvetica Neue Light"/>
              <a:buNone/>
              <a:defRPr sz="2000">
                <a:solidFill>
                  <a:srgbClr val="888888"/>
                </a:solidFill>
              </a:defRPr>
            </a:lvl3pPr>
            <a:lvl4pPr marL="1828800" lvl="3" indent="-228600" algn="l">
              <a:lnSpc>
                <a:spcPct val="90000"/>
              </a:lnSpc>
              <a:spcBef>
                <a:spcPts val="1000"/>
              </a:spcBef>
              <a:spcAft>
                <a:spcPts val="0"/>
              </a:spcAft>
              <a:buClr>
                <a:srgbClr val="888888"/>
              </a:buClr>
              <a:buSzPts val="2000"/>
              <a:buFont typeface="Helvetica Neue Light"/>
              <a:buNone/>
              <a:defRPr sz="2000">
                <a:solidFill>
                  <a:srgbClr val="888888"/>
                </a:solidFill>
              </a:defRPr>
            </a:lvl4pPr>
            <a:lvl5pPr marL="2286000" lvl="4" indent="-228600" algn="l">
              <a:lnSpc>
                <a:spcPct val="90000"/>
              </a:lnSpc>
              <a:spcBef>
                <a:spcPts val="1000"/>
              </a:spcBef>
              <a:spcAft>
                <a:spcPts val="0"/>
              </a:spcAft>
              <a:buClr>
                <a:srgbClr val="888888"/>
              </a:buClr>
              <a:buSzPts val="2000"/>
              <a:buFont typeface="Helvetica Neue Light"/>
              <a:buNone/>
              <a:defRPr sz="20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33" name="Google Shape;33;p14"/>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34" name="Google Shape;34;p14" descr="Picture 16"/>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rgbClr val="F2F1EE"/>
        </a:solidFill>
        <a:effectLst/>
      </p:bgPr>
    </p:bg>
    <p:spTree>
      <p:nvGrpSpPr>
        <p:cNvPr id="1" name="Shape 35"/>
        <p:cNvGrpSpPr/>
        <p:nvPr/>
      </p:nvGrpSpPr>
      <p:grpSpPr>
        <a:xfrm>
          <a:off x="0" y="0"/>
          <a:ext cx="0" cy="0"/>
          <a:chOff x="0" y="0"/>
          <a:chExt cx="0" cy="0"/>
        </a:xfrm>
      </p:grpSpPr>
      <p:grpSp>
        <p:nvGrpSpPr>
          <p:cNvPr id="36" name="Google Shape;36;p15"/>
          <p:cNvGrpSpPr/>
          <p:nvPr/>
        </p:nvGrpSpPr>
        <p:grpSpPr>
          <a:xfrm>
            <a:off x="-2" y="6756400"/>
            <a:ext cx="12192004" cy="105497"/>
            <a:chOff x="-1" y="0"/>
            <a:chExt cx="12192002" cy="105496"/>
          </a:xfrm>
        </p:grpSpPr>
        <p:pic>
          <p:nvPicPr>
            <p:cNvPr id="37" name="Google Shape;37;p15"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38" name="Google Shape;38;p15"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39" name="Google Shape;39;p15"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40" name="Google Shape;40;p15"/>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4000"/>
              <a:buFont typeface="Helvetica Neue"/>
              <a:buNone/>
              <a:defRPr sz="4000">
                <a:solidFill>
                  <a:srgbClr val="000000"/>
                </a:solidFill>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41" name="Google Shape;41;p15"/>
          <p:cNvSpPr txBox="1">
            <a:spLocks noGrp="1"/>
          </p:cNvSpPr>
          <p:nvPr>
            <p:ph type="body" idx="1"/>
          </p:nvPr>
        </p:nvSpPr>
        <p:spPr>
          <a:xfrm>
            <a:off x="838200" y="1825625"/>
            <a:ext cx="5181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2" name="Google Shape;42;p15"/>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43" name="Google Shape;43;p15" descr="Picture 12"/>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p:cSld name="Comparison">
    <p:bg>
      <p:bgPr>
        <a:solidFill>
          <a:srgbClr val="F2F1EE"/>
        </a:solidFill>
        <a:effectLst/>
      </p:bgPr>
    </p:bg>
    <p:spTree>
      <p:nvGrpSpPr>
        <p:cNvPr id="1" name="Shape 44"/>
        <p:cNvGrpSpPr/>
        <p:nvPr/>
      </p:nvGrpSpPr>
      <p:grpSpPr>
        <a:xfrm>
          <a:off x="0" y="0"/>
          <a:ext cx="0" cy="0"/>
          <a:chOff x="0" y="0"/>
          <a:chExt cx="0" cy="0"/>
        </a:xfrm>
      </p:grpSpPr>
      <p:grpSp>
        <p:nvGrpSpPr>
          <p:cNvPr id="45" name="Google Shape;45;p16"/>
          <p:cNvGrpSpPr/>
          <p:nvPr/>
        </p:nvGrpSpPr>
        <p:grpSpPr>
          <a:xfrm>
            <a:off x="-2" y="6756400"/>
            <a:ext cx="12192004" cy="105497"/>
            <a:chOff x="-1" y="0"/>
            <a:chExt cx="12192002" cy="105496"/>
          </a:xfrm>
        </p:grpSpPr>
        <p:pic>
          <p:nvPicPr>
            <p:cNvPr id="46" name="Google Shape;46;p16"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47" name="Google Shape;47;p16"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48" name="Google Shape;48;p16"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49" name="Google Shape;49;p16"/>
          <p:cNvSpPr txBox="1">
            <a:spLocks noGrp="1"/>
          </p:cNvSpPr>
          <p:nvPr>
            <p:ph type="title"/>
          </p:nvPr>
        </p:nvSpPr>
        <p:spPr>
          <a:xfrm>
            <a:off x="839787" y="365125"/>
            <a:ext cx="10515601" cy="1325563"/>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4000"/>
              <a:buFont typeface="Helvetica Neue"/>
              <a:buNone/>
              <a:defRPr sz="4000">
                <a:solidFill>
                  <a:srgbClr val="000000"/>
                </a:solidFill>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50" name="Google Shape;50;p16"/>
          <p:cNvSpPr txBox="1">
            <a:spLocks noGrp="1"/>
          </p:cNvSpPr>
          <p:nvPr>
            <p:ph type="body" idx="1"/>
          </p:nvPr>
        </p:nvSpPr>
        <p:spPr>
          <a:xfrm>
            <a:off x="839787" y="1681163"/>
            <a:ext cx="5157789" cy="823913"/>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Helvetica Neue Light"/>
              <a:buNone/>
              <a:defRPr sz="2400"/>
            </a:lvl1pPr>
            <a:lvl2pPr marL="914400" lvl="1" indent="-228600" algn="l">
              <a:lnSpc>
                <a:spcPct val="90000"/>
              </a:lnSpc>
              <a:spcBef>
                <a:spcPts val="1000"/>
              </a:spcBef>
              <a:spcAft>
                <a:spcPts val="0"/>
              </a:spcAft>
              <a:buClr>
                <a:srgbClr val="000000"/>
              </a:buClr>
              <a:buSzPts val="2400"/>
              <a:buFont typeface="Helvetica Neue Light"/>
              <a:buNone/>
              <a:defRPr sz="2400"/>
            </a:lvl2pPr>
            <a:lvl3pPr marL="1371600" lvl="2" indent="-228600" algn="l">
              <a:lnSpc>
                <a:spcPct val="90000"/>
              </a:lnSpc>
              <a:spcBef>
                <a:spcPts val="1000"/>
              </a:spcBef>
              <a:spcAft>
                <a:spcPts val="0"/>
              </a:spcAft>
              <a:buClr>
                <a:srgbClr val="000000"/>
              </a:buClr>
              <a:buSzPts val="2400"/>
              <a:buFont typeface="Helvetica Neue Light"/>
              <a:buNone/>
              <a:defRPr sz="2400"/>
            </a:lvl3pPr>
            <a:lvl4pPr marL="1828800" lvl="3" indent="-228600" algn="l">
              <a:lnSpc>
                <a:spcPct val="90000"/>
              </a:lnSpc>
              <a:spcBef>
                <a:spcPts val="1000"/>
              </a:spcBef>
              <a:spcAft>
                <a:spcPts val="0"/>
              </a:spcAft>
              <a:buClr>
                <a:srgbClr val="000000"/>
              </a:buClr>
              <a:buSzPts val="2400"/>
              <a:buFont typeface="Helvetica Neue Light"/>
              <a:buNone/>
              <a:defRPr sz="2400"/>
            </a:lvl4pPr>
            <a:lvl5pPr marL="2286000" lvl="4" indent="-228600" algn="l">
              <a:lnSpc>
                <a:spcPct val="90000"/>
              </a:lnSpc>
              <a:spcBef>
                <a:spcPts val="1000"/>
              </a:spcBef>
              <a:spcAft>
                <a:spcPts val="0"/>
              </a:spcAft>
              <a:buClr>
                <a:srgbClr val="000000"/>
              </a:buClr>
              <a:buSzPts val="2400"/>
              <a:buFont typeface="Helvetica Neue Light"/>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1" name="Google Shape;51;p16"/>
          <p:cNvSpPr txBox="1">
            <a:spLocks noGrp="1"/>
          </p:cNvSpPr>
          <p:nvPr>
            <p:ph type="body" idx="2"/>
          </p:nvPr>
        </p:nvSpPr>
        <p:spPr>
          <a:xfrm>
            <a:off x="6172200" y="1681163"/>
            <a:ext cx="5183188" cy="823913"/>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2" name="Google Shape;52;p16"/>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53" name="Google Shape;53;p16" descr="Picture 8"/>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rgbClr val="F2F1EE"/>
        </a:solidFill>
        <a:effectLst/>
      </p:bgPr>
    </p:bg>
    <p:spTree>
      <p:nvGrpSpPr>
        <p:cNvPr id="1" name="Shape 54"/>
        <p:cNvGrpSpPr/>
        <p:nvPr/>
      </p:nvGrpSpPr>
      <p:grpSpPr>
        <a:xfrm>
          <a:off x="0" y="0"/>
          <a:ext cx="0" cy="0"/>
          <a:chOff x="0" y="0"/>
          <a:chExt cx="0" cy="0"/>
        </a:xfrm>
      </p:grpSpPr>
      <p:grpSp>
        <p:nvGrpSpPr>
          <p:cNvPr id="55" name="Google Shape;55;p17"/>
          <p:cNvGrpSpPr/>
          <p:nvPr/>
        </p:nvGrpSpPr>
        <p:grpSpPr>
          <a:xfrm>
            <a:off x="-2" y="6756400"/>
            <a:ext cx="12192004" cy="105497"/>
            <a:chOff x="-1" y="0"/>
            <a:chExt cx="12192002" cy="105496"/>
          </a:xfrm>
        </p:grpSpPr>
        <p:pic>
          <p:nvPicPr>
            <p:cNvPr id="56" name="Google Shape;56;p17"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57" name="Google Shape;57;p17"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58" name="Google Shape;58;p17"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59" name="Google Shape;59;p17"/>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4000"/>
              <a:buFont typeface="Helvetica Neue"/>
              <a:buNone/>
              <a:defRPr sz="4000">
                <a:solidFill>
                  <a:srgbClr val="000000"/>
                </a:solidFill>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60" name="Google Shape;60;p17"/>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61" name="Google Shape;61;p17" descr="Picture 4"/>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rgbClr val="F2F1EE"/>
        </a:solidFill>
        <a:effectLst/>
      </p:bgPr>
    </p:bg>
    <p:spTree>
      <p:nvGrpSpPr>
        <p:cNvPr id="1" name="Shape 62"/>
        <p:cNvGrpSpPr/>
        <p:nvPr/>
      </p:nvGrpSpPr>
      <p:grpSpPr>
        <a:xfrm>
          <a:off x="0" y="0"/>
          <a:ext cx="0" cy="0"/>
          <a:chOff x="0" y="0"/>
          <a:chExt cx="0" cy="0"/>
        </a:xfrm>
      </p:grpSpPr>
      <p:grpSp>
        <p:nvGrpSpPr>
          <p:cNvPr id="63" name="Google Shape;63;p18"/>
          <p:cNvGrpSpPr/>
          <p:nvPr/>
        </p:nvGrpSpPr>
        <p:grpSpPr>
          <a:xfrm>
            <a:off x="-2" y="6756400"/>
            <a:ext cx="12192004" cy="105497"/>
            <a:chOff x="-1" y="0"/>
            <a:chExt cx="12192002" cy="105496"/>
          </a:xfrm>
        </p:grpSpPr>
        <p:pic>
          <p:nvPicPr>
            <p:cNvPr id="64" name="Google Shape;64;p18"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65" name="Google Shape;65;p18"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66" name="Google Shape;66;p18"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67" name="Google Shape;67;p18"/>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68" name="Google Shape;68;p18" descr="Picture 3"/>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p:cSld name="Content with Caption">
    <p:bg>
      <p:bgPr>
        <a:solidFill>
          <a:srgbClr val="F2F1EE"/>
        </a:solidFill>
        <a:effectLst/>
      </p:bgPr>
    </p:bg>
    <p:spTree>
      <p:nvGrpSpPr>
        <p:cNvPr id="1" name="Shape 69"/>
        <p:cNvGrpSpPr/>
        <p:nvPr/>
      </p:nvGrpSpPr>
      <p:grpSpPr>
        <a:xfrm>
          <a:off x="0" y="0"/>
          <a:ext cx="0" cy="0"/>
          <a:chOff x="0" y="0"/>
          <a:chExt cx="0" cy="0"/>
        </a:xfrm>
      </p:grpSpPr>
      <p:grpSp>
        <p:nvGrpSpPr>
          <p:cNvPr id="70" name="Google Shape;70;p19"/>
          <p:cNvGrpSpPr/>
          <p:nvPr/>
        </p:nvGrpSpPr>
        <p:grpSpPr>
          <a:xfrm>
            <a:off x="-2" y="6756400"/>
            <a:ext cx="12192004" cy="105497"/>
            <a:chOff x="-1" y="0"/>
            <a:chExt cx="12192002" cy="105496"/>
          </a:xfrm>
        </p:grpSpPr>
        <p:pic>
          <p:nvPicPr>
            <p:cNvPr id="71" name="Google Shape;71;p19"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72" name="Google Shape;72;p19"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73" name="Google Shape;73;p19"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74" name="Google Shape;74;p19"/>
          <p:cNvSpPr txBox="1">
            <a:spLocks noGrp="1"/>
          </p:cNvSpPr>
          <p:nvPr>
            <p:ph type="title"/>
          </p:nvPr>
        </p:nvSpPr>
        <p:spPr>
          <a:xfrm>
            <a:off x="839787" y="457200"/>
            <a:ext cx="3932239"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Helvetica Neue"/>
              <a:buNone/>
              <a:defRPr sz="3200">
                <a:solidFill>
                  <a:srgbClr val="000000"/>
                </a:solidFill>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75" name="Google Shape;75;p19"/>
          <p:cNvSpPr txBox="1">
            <a:spLocks noGrp="1"/>
          </p:cNvSpPr>
          <p:nvPr>
            <p:ph type="body" idx="1"/>
          </p:nvPr>
        </p:nvSpPr>
        <p:spPr>
          <a:xfrm>
            <a:off x="5183187" y="987425"/>
            <a:ext cx="6172201" cy="4873625"/>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Font typeface="Helvetica Neue Light"/>
              <a:buChar char="•"/>
              <a:defRPr sz="3200"/>
            </a:lvl1pPr>
            <a:lvl2pPr marL="914400" lvl="1" indent="-431800" algn="l">
              <a:lnSpc>
                <a:spcPct val="90000"/>
              </a:lnSpc>
              <a:spcBef>
                <a:spcPts val="1000"/>
              </a:spcBef>
              <a:spcAft>
                <a:spcPts val="0"/>
              </a:spcAft>
              <a:buClr>
                <a:srgbClr val="000000"/>
              </a:buClr>
              <a:buSzPts val="3200"/>
              <a:buFont typeface="Helvetica Neue Light"/>
              <a:buChar char="•"/>
              <a:defRPr sz="3200"/>
            </a:lvl2pPr>
            <a:lvl3pPr marL="1371600" lvl="2" indent="-431800" algn="l">
              <a:lnSpc>
                <a:spcPct val="90000"/>
              </a:lnSpc>
              <a:spcBef>
                <a:spcPts val="1000"/>
              </a:spcBef>
              <a:spcAft>
                <a:spcPts val="0"/>
              </a:spcAft>
              <a:buClr>
                <a:srgbClr val="000000"/>
              </a:buClr>
              <a:buSzPts val="3200"/>
              <a:buFont typeface="Helvetica Neue Light"/>
              <a:buChar char="•"/>
              <a:defRPr sz="3200"/>
            </a:lvl3pPr>
            <a:lvl4pPr marL="1828800" lvl="3" indent="-431800" algn="l">
              <a:lnSpc>
                <a:spcPct val="90000"/>
              </a:lnSpc>
              <a:spcBef>
                <a:spcPts val="1000"/>
              </a:spcBef>
              <a:spcAft>
                <a:spcPts val="0"/>
              </a:spcAft>
              <a:buClr>
                <a:srgbClr val="000000"/>
              </a:buClr>
              <a:buSzPts val="3200"/>
              <a:buFont typeface="Helvetica Neue Light"/>
              <a:buChar char="•"/>
              <a:defRPr sz="3200"/>
            </a:lvl4pPr>
            <a:lvl5pPr marL="2286000" lvl="4" indent="-431800" algn="l">
              <a:lnSpc>
                <a:spcPct val="90000"/>
              </a:lnSpc>
              <a:spcBef>
                <a:spcPts val="1000"/>
              </a:spcBef>
              <a:spcAft>
                <a:spcPts val="0"/>
              </a:spcAft>
              <a:buClr>
                <a:srgbClr val="000000"/>
              </a:buClr>
              <a:buSzPts val="3200"/>
              <a:buFont typeface="Helvetica Neue Light"/>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6" name="Google Shape;76;p19"/>
          <p:cNvSpPr txBox="1">
            <a:spLocks noGrp="1"/>
          </p:cNvSpPr>
          <p:nvPr>
            <p:ph type="body" idx="2"/>
          </p:nvPr>
        </p:nvSpPr>
        <p:spPr>
          <a:xfrm>
            <a:off x="839787" y="2057400"/>
            <a:ext cx="3932238" cy="381158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7" name="Google Shape;77;p19"/>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78" name="Google Shape;78;p19" descr="Picture 6"/>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p:cSld name="Picture with Caption">
    <p:bg>
      <p:bgPr>
        <a:solidFill>
          <a:srgbClr val="F2F1EE"/>
        </a:solidFill>
        <a:effectLst/>
      </p:bgPr>
    </p:bg>
    <p:spTree>
      <p:nvGrpSpPr>
        <p:cNvPr id="1" name="Shape 79"/>
        <p:cNvGrpSpPr/>
        <p:nvPr/>
      </p:nvGrpSpPr>
      <p:grpSpPr>
        <a:xfrm>
          <a:off x="0" y="0"/>
          <a:ext cx="0" cy="0"/>
          <a:chOff x="0" y="0"/>
          <a:chExt cx="0" cy="0"/>
        </a:xfrm>
      </p:grpSpPr>
      <p:grpSp>
        <p:nvGrpSpPr>
          <p:cNvPr id="80" name="Google Shape;80;p20"/>
          <p:cNvGrpSpPr/>
          <p:nvPr/>
        </p:nvGrpSpPr>
        <p:grpSpPr>
          <a:xfrm>
            <a:off x="-2" y="6756400"/>
            <a:ext cx="12192004" cy="105497"/>
            <a:chOff x="-1" y="0"/>
            <a:chExt cx="12192002" cy="105496"/>
          </a:xfrm>
        </p:grpSpPr>
        <p:pic>
          <p:nvPicPr>
            <p:cNvPr id="81" name="Google Shape;81;p20" descr="Picture 8"/>
            <p:cNvPicPr preferRelativeResize="0"/>
            <p:nvPr/>
          </p:nvPicPr>
          <p:blipFill rotWithShape="1">
            <a:blip r:embed="rId2">
              <a:alphaModFix/>
            </a:blip>
            <a:srcRect/>
            <a:stretch/>
          </p:blipFill>
          <p:spPr>
            <a:xfrm>
              <a:off x="1524000" y="0"/>
              <a:ext cx="9144000" cy="101600"/>
            </a:xfrm>
            <a:prstGeom prst="rect">
              <a:avLst/>
            </a:prstGeom>
            <a:noFill/>
            <a:ln>
              <a:noFill/>
            </a:ln>
          </p:spPr>
        </p:pic>
        <p:pic>
          <p:nvPicPr>
            <p:cNvPr id="82" name="Google Shape;82;p20" descr="Picture 10"/>
            <p:cNvPicPr preferRelativeResize="0"/>
            <p:nvPr/>
          </p:nvPicPr>
          <p:blipFill rotWithShape="1">
            <a:blip r:embed="rId2">
              <a:alphaModFix/>
            </a:blip>
            <a:srcRect r="71580" b="15583"/>
            <a:stretch/>
          </p:blipFill>
          <p:spPr>
            <a:xfrm>
              <a:off x="-1" y="0"/>
              <a:ext cx="2598718" cy="101600"/>
            </a:xfrm>
            <a:prstGeom prst="rect">
              <a:avLst/>
            </a:prstGeom>
            <a:noFill/>
            <a:ln>
              <a:noFill/>
            </a:ln>
          </p:spPr>
        </p:pic>
        <p:pic>
          <p:nvPicPr>
            <p:cNvPr id="83" name="Google Shape;83;p20" descr="Picture 11"/>
            <p:cNvPicPr preferRelativeResize="0"/>
            <p:nvPr/>
          </p:nvPicPr>
          <p:blipFill rotWithShape="1">
            <a:blip r:embed="rId2">
              <a:alphaModFix/>
            </a:blip>
            <a:srcRect r="71580" b="15583"/>
            <a:stretch/>
          </p:blipFill>
          <p:spPr>
            <a:xfrm>
              <a:off x="9593283" y="0"/>
              <a:ext cx="2598718" cy="105496"/>
            </a:xfrm>
            <a:prstGeom prst="rect">
              <a:avLst/>
            </a:prstGeom>
            <a:noFill/>
            <a:ln>
              <a:noFill/>
            </a:ln>
          </p:spPr>
        </p:pic>
      </p:grpSp>
      <p:sp>
        <p:nvSpPr>
          <p:cNvPr id="84" name="Google Shape;84;p20"/>
          <p:cNvSpPr txBox="1">
            <a:spLocks noGrp="1"/>
          </p:cNvSpPr>
          <p:nvPr>
            <p:ph type="title"/>
          </p:nvPr>
        </p:nvSpPr>
        <p:spPr>
          <a:xfrm>
            <a:off x="839787" y="457200"/>
            <a:ext cx="3932239"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Helvetica Neue"/>
              <a:buNone/>
              <a:defRPr sz="3200">
                <a:solidFill>
                  <a:srgbClr val="000000"/>
                </a:solidFill>
              </a:defRPr>
            </a:lvl1pPr>
            <a:lvl2pPr lvl="1" algn="ctr">
              <a:lnSpc>
                <a:spcPct val="90000"/>
              </a:lnSpc>
              <a:spcBef>
                <a:spcPts val="0"/>
              </a:spcBef>
              <a:spcAft>
                <a:spcPts val="0"/>
              </a:spcAft>
              <a:buClr>
                <a:srgbClr val="FEFEFE"/>
              </a:buClr>
              <a:buSzPts val="1800"/>
              <a:buNone/>
              <a:defRPr/>
            </a:lvl2pPr>
            <a:lvl3pPr lvl="2" algn="ctr">
              <a:lnSpc>
                <a:spcPct val="90000"/>
              </a:lnSpc>
              <a:spcBef>
                <a:spcPts val="0"/>
              </a:spcBef>
              <a:spcAft>
                <a:spcPts val="0"/>
              </a:spcAft>
              <a:buClr>
                <a:srgbClr val="FEFEFE"/>
              </a:buClr>
              <a:buSzPts val="1800"/>
              <a:buNone/>
              <a:defRPr/>
            </a:lvl3pPr>
            <a:lvl4pPr lvl="3" algn="ctr">
              <a:lnSpc>
                <a:spcPct val="90000"/>
              </a:lnSpc>
              <a:spcBef>
                <a:spcPts val="0"/>
              </a:spcBef>
              <a:spcAft>
                <a:spcPts val="0"/>
              </a:spcAft>
              <a:buClr>
                <a:srgbClr val="FEFEFE"/>
              </a:buClr>
              <a:buSzPts val="1800"/>
              <a:buNone/>
              <a:defRPr/>
            </a:lvl4pPr>
            <a:lvl5pPr lvl="4" algn="ctr">
              <a:lnSpc>
                <a:spcPct val="90000"/>
              </a:lnSpc>
              <a:spcBef>
                <a:spcPts val="0"/>
              </a:spcBef>
              <a:spcAft>
                <a:spcPts val="0"/>
              </a:spcAft>
              <a:buClr>
                <a:srgbClr val="FEFEFE"/>
              </a:buClr>
              <a:buSzPts val="1800"/>
              <a:buNone/>
              <a:defRPr/>
            </a:lvl5pPr>
            <a:lvl6pPr lvl="5" algn="ctr">
              <a:lnSpc>
                <a:spcPct val="90000"/>
              </a:lnSpc>
              <a:spcBef>
                <a:spcPts val="0"/>
              </a:spcBef>
              <a:spcAft>
                <a:spcPts val="0"/>
              </a:spcAft>
              <a:buClr>
                <a:srgbClr val="FEFEFE"/>
              </a:buClr>
              <a:buSzPts val="1800"/>
              <a:buNone/>
              <a:defRPr/>
            </a:lvl6pPr>
            <a:lvl7pPr lvl="6" algn="ctr">
              <a:lnSpc>
                <a:spcPct val="90000"/>
              </a:lnSpc>
              <a:spcBef>
                <a:spcPts val="0"/>
              </a:spcBef>
              <a:spcAft>
                <a:spcPts val="0"/>
              </a:spcAft>
              <a:buClr>
                <a:srgbClr val="FEFEFE"/>
              </a:buClr>
              <a:buSzPts val="1800"/>
              <a:buNone/>
              <a:defRPr/>
            </a:lvl7pPr>
            <a:lvl8pPr lvl="7" algn="ctr">
              <a:lnSpc>
                <a:spcPct val="90000"/>
              </a:lnSpc>
              <a:spcBef>
                <a:spcPts val="0"/>
              </a:spcBef>
              <a:spcAft>
                <a:spcPts val="0"/>
              </a:spcAft>
              <a:buClr>
                <a:srgbClr val="FEFEFE"/>
              </a:buClr>
              <a:buSzPts val="1800"/>
              <a:buNone/>
              <a:defRPr/>
            </a:lvl8pPr>
            <a:lvl9pPr lvl="8" algn="ctr">
              <a:lnSpc>
                <a:spcPct val="90000"/>
              </a:lnSpc>
              <a:spcBef>
                <a:spcPts val="0"/>
              </a:spcBef>
              <a:spcAft>
                <a:spcPts val="0"/>
              </a:spcAft>
              <a:buClr>
                <a:srgbClr val="FEFEFE"/>
              </a:buClr>
              <a:buSzPts val="1800"/>
              <a:buNone/>
              <a:defRPr/>
            </a:lvl9pPr>
          </a:lstStyle>
          <a:p>
            <a:endParaRPr/>
          </a:p>
        </p:txBody>
      </p:sp>
      <p:sp>
        <p:nvSpPr>
          <p:cNvPr id="85" name="Google Shape;85;p20"/>
          <p:cNvSpPr>
            <a:spLocks noGrp="1"/>
          </p:cNvSpPr>
          <p:nvPr>
            <p:ph type="pic" idx="2"/>
          </p:nvPr>
        </p:nvSpPr>
        <p:spPr>
          <a:xfrm>
            <a:off x="5183187" y="987425"/>
            <a:ext cx="6172201" cy="4873625"/>
          </a:xfrm>
          <a:prstGeom prst="rect">
            <a:avLst/>
          </a:prstGeom>
          <a:noFill/>
          <a:ln>
            <a:noFill/>
          </a:ln>
        </p:spPr>
      </p:sp>
      <p:sp>
        <p:nvSpPr>
          <p:cNvPr id="86" name="Google Shape;86;p20"/>
          <p:cNvSpPr txBox="1">
            <a:spLocks noGrp="1"/>
          </p:cNvSpPr>
          <p:nvPr>
            <p:ph type="body" idx="1"/>
          </p:nvPr>
        </p:nvSpPr>
        <p:spPr>
          <a:xfrm>
            <a:off x="839787" y="2057400"/>
            <a:ext cx="3932239" cy="381158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Helvetica Neue Light"/>
              <a:buNone/>
              <a:defRPr sz="1600"/>
            </a:lvl1pPr>
            <a:lvl2pPr marL="914400" lvl="1" indent="-228600" algn="l">
              <a:lnSpc>
                <a:spcPct val="90000"/>
              </a:lnSpc>
              <a:spcBef>
                <a:spcPts val="1000"/>
              </a:spcBef>
              <a:spcAft>
                <a:spcPts val="0"/>
              </a:spcAft>
              <a:buClr>
                <a:srgbClr val="000000"/>
              </a:buClr>
              <a:buSzPts val="1600"/>
              <a:buFont typeface="Helvetica Neue Light"/>
              <a:buNone/>
              <a:defRPr sz="1600"/>
            </a:lvl2pPr>
            <a:lvl3pPr marL="1371600" lvl="2" indent="-228600" algn="l">
              <a:lnSpc>
                <a:spcPct val="90000"/>
              </a:lnSpc>
              <a:spcBef>
                <a:spcPts val="1000"/>
              </a:spcBef>
              <a:spcAft>
                <a:spcPts val="0"/>
              </a:spcAft>
              <a:buClr>
                <a:srgbClr val="000000"/>
              </a:buClr>
              <a:buSzPts val="1600"/>
              <a:buFont typeface="Helvetica Neue Light"/>
              <a:buNone/>
              <a:defRPr sz="1600"/>
            </a:lvl3pPr>
            <a:lvl4pPr marL="1828800" lvl="3" indent="-228600" algn="l">
              <a:lnSpc>
                <a:spcPct val="90000"/>
              </a:lnSpc>
              <a:spcBef>
                <a:spcPts val="1000"/>
              </a:spcBef>
              <a:spcAft>
                <a:spcPts val="0"/>
              </a:spcAft>
              <a:buClr>
                <a:srgbClr val="000000"/>
              </a:buClr>
              <a:buSzPts val="1600"/>
              <a:buFont typeface="Helvetica Neue Light"/>
              <a:buNone/>
              <a:defRPr sz="1600"/>
            </a:lvl4pPr>
            <a:lvl5pPr marL="2286000" lvl="4" indent="-228600" algn="l">
              <a:lnSpc>
                <a:spcPct val="90000"/>
              </a:lnSpc>
              <a:spcBef>
                <a:spcPts val="1000"/>
              </a:spcBef>
              <a:spcAft>
                <a:spcPts val="0"/>
              </a:spcAft>
              <a:buClr>
                <a:srgbClr val="000000"/>
              </a:buClr>
              <a:buSzPts val="1600"/>
              <a:buFont typeface="Helvetica Neue Light"/>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7" name="Google Shape;87;p20"/>
          <p:cNvSpPr txBox="1">
            <a:spLocks noGrp="1"/>
          </p:cNvSpPr>
          <p:nvPr>
            <p:ph type="sldNum" idx="12"/>
          </p:nvPr>
        </p:nvSpPr>
        <p:spPr>
          <a:xfrm>
            <a:off x="11080189" y="6338767"/>
            <a:ext cx="273610"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pic>
        <p:nvPicPr>
          <p:cNvPr id="88" name="Google Shape;88;p20" descr="Picture 6"/>
          <p:cNvPicPr preferRelativeResize="0"/>
          <p:nvPr/>
        </p:nvPicPr>
        <p:blipFill rotWithShape="1">
          <a:blip r:embed="rId3">
            <a:alphaModFix/>
          </a:blip>
          <a:srcRect l="29654" t="38312" r="29479" b="38396"/>
          <a:stretch/>
        </p:blipFill>
        <p:spPr>
          <a:xfrm>
            <a:off x="358813" y="6038947"/>
            <a:ext cx="1365813" cy="59899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801B19"/>
        </a:solidFill>
        <a:effectLst/>
      </p:bgPr>
    </p:bg>
    <p:spTree>
      <p:nvGrpSpPr>
        <p:cNvPr id="1" name="Shape 5"/>
        <p:cNvGrpSpPr/>
        <p:nvPr/>
      </p:nvGrpSpPr>
      <p:grpSpPr>
        <a:xfrm>
          <a:off x="0" y="0"/>
          <a:ext cx="0" cy="0"/>
          <a:chOff x="0" y="0"/>
          <a:chExt cx="0" cy="0"/>
        </a:xfrm>
      </p:grpSpPr>
      <p:grpSp>
        <p:nvGrpSpPr>
          <p:cNvPr id="6" name="Google Shape;6;p11"/>
          <p:cNvGrpSpPr/>
          <p:nvPr/>
        </p:nvGrpSpPr>
        <p:grpSpPr>
          <a:xfrm>
            <a:off x="-2" y="6756400"/>
            <a:ext cx="12192004" cy="105497"/>
            <a:chOff x="-1" y="0"/>
            <a:chExt cx="12192002" cy="105496"/>
          </a:xfrm>
        </p:grpSpPr>
        <p:pic>
          <p:nvPicPr>
            <p:cNvPr id="7" name="Google Shape;7;p11" descr="Picture 8"/>
            <p:cNvPicPr preferRelativeResize="0"/>
            <p:nvPr/>
          </p:nvPicPr>
          <p:blipFill rotWithShape="1">
            <a:blip r:embed="rId11">
              <a:alphaModFix/>
            </a:blip>
            <a:srcRect/>
            <a:stretch/>
          </p:blipFill>
          <p:spPr>
            <a:xfrm>
              <a:off x="1524000" y="0"/>
              <a:ext cx="9144000" cy="101600"/>
            </a:xfrm>
            <a:prstGeom prst="rect">
              <a:avLst/>
            </a:prstGeom>
            <a:noFill/>
            <a:ln>
              <a:noFill/>
            </a:ln>
          </p:spPr>
        </p:pic>
        <p:pic>
          <p:nvPicPr>
            <p:cNvPr id="8" name="Google Shape;8;p11" descr="Picture 10"/>
            <p:cNvPicPr preferRelativeResize="0"/>
            <p:nvPr/>
          </p:nvPicPr>
          <p:blipFill rotWithShape="1">
            <a:blip r:embed="rId11">
              <a:alphaModFix/>
            </a:blip>
            <a:srcRect r="71580" b="15583"/>
            <a:stretch/>
          </p:blipFill>
          <p:spPr>
            <a:xfrm>
              <a:off x="-1" y="0"/>
              <a:ext cx="2598718" cy="101600"/>
            </a:xfrm>
            <a:prstGeom prst="rect">
              <a:avLst/>
            </a:prstGeom>
            <a:noFill/>
            <a:ln>
              <a:noFill/>
            </a:ln>
          </p:spPr>
        </p:pic>
        <p:pic>
          <p:nvPicPr>
            <p:cNvPr id="9" name="Google Shape;9;p11" descr="Picture 11"/>
            <p:cNvPicPr preferRelativeResize="0"/>
            <p:nvPr/>
          </p:nvPicPr>
          <p:blipFill rotWithShape="1">
            <a:blip r:embed="rId11">
              <a:alphaModFix/>
            </a:blip>
            <a:srcRect r="71580" b="15583"/>
            <a:stretch/>
          </p:blipFill>
          <p:spPr>
            <a:xfrm>
              <a:off x="9593283" y="0"/>
              <a:ext cx="2598718" cy="105496"/>
            </a:xfrm>
            <a:prstGeom prst="rect">
              <a:avLst/>
            </a:prstGeom>
            <a:noFill/>
            <a:ln>
              <a:noFill/>
            </a:ln>
          </p:spPr>
        </p:pic>
      </p:grpSp>
      <p:sp>
        <p:nvSpPr>
          <p:cNvPr id="10" name="Google Shape;10;p11"/>
          <p:cNvSpPr txBox="1">
            <a:spLocks noGrp="1"/>
          </p:cNvSpPr>
          <p:nvPr>
            <p:ph type="title"/>
          </p:nvPr>
        </p:nvSpPr>
        <p:spPr>
          <a:xfrm>
            <a:off x="844150" y="3874808"/>
            <a:ext cx="10515601" cy="835417"/>
          </a:xfrm>
          <a:prstGeom prst="rect">
            <a:avLst/>
          </a:prstGeom>
          <a:noFill/>
          <a:ln>
            <a:noFill/>
          </a:ln>
        </p:spPr>
        <p:txBody>
          <a:bodyPr spcFirstLastPara="1" wrap="square" lIns="45700" tIns="45700" rIns="45700" bIns="45700" anchor="t" anchorCtr="0">
            <a:normAutofit/>
          </a:bodyPr>
          <a:lstStyle>
            <a:lvl1pPr marR="0" lvl="0"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1pPr>
            <a:lvl2pPr marR="0" lvl="1"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2pPr>
            <a:lvl3pPr marR="0" lvl="2"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3pPr>
            <a:lvl4pPr marR="0" lvl="3"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4pPr>
            <a:lvl5pPr marR="0" lvl="4"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5pPr>
            <a:lvl6pPr marR="0" lvl="5"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6pPr>
            <a:lvl7pPr marR="0" lvl="6"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7pPr>
            <a:lvl8pPr marR="0" lvl="7"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8pPr>
            <a:lvl9pPr marR="0" lvl="8" algn="ctr" rtl="0">
              <a:lnSpc>
                <a:spcPct val="90000"/>
              </a:lnSpc>
              <a:spcBef>
                <a:spcPts val="0"/>
              </a:spcBef>
              <a:spcAft>
                <a:spcPts val="0"/>
              </a:spcAft>
              <a:buClr>
                <a:srgbClr val="FEFEFE"/>
              </a:buClr>
              <a:buSzPts val="3400"/>
              <a:buFont typeface="Helvetica Neue"/>
              <a:buNone/>
              <a:defRPr sz="3400" b="1" i="0" u="none" strike="noStrike" cap="none">
                <a:solidFill>
                  <a:srgbClr val="FEFEFE"/>
                </a:solidFill>
                <a:latin typeface="Helvetica Neue"/>
                <a:ea typeface="Helvetica Neue"/>
                <a:cs typeface="Helvetica Neue"/>
                <a:sym typeface="Helvetica Neue"/>
              </a:defRPr>
            </a:lvl9pPr>
          </a:lstStyle>
          <a:p>
            <a:endParaRPr/>
          </a:p>
        </p:txBody>
      </p:sp>
      <p:pic>
        <p:nvPicPr>
          <p:cNvPr id="11" name="Google Shape;11;p11" descr="Picture 4"/>
          <p:cNvPicPr preferRelativeResize="0"/>
          <p:nvPr/>
        </p:nvPicPr>
        <p:blipFill rotWithShape="1">
          <a:blip r:embed="rId12">
            <a:alphaModFix/>
          </a:blip>
          <a:srcRect/>
          <a:stretch/>
        </p:blipFill>
        <p:spPr>
          <a:xfrm>
            <a:off x="4042931" y="1479396"/>
            <a:ext cx="4106138" cy="1347722"/>
          </a:xfrm>
          <a:prstGeom prst="rect">
            <a:avLst/>
          </a:prstGeom>
          <a:noFill/>
          <a:ln>
            <a:noFill/>
          </a:ln>
        </p:spPr>
      </p:pic>
      <p:sp>
        <p:nvSpPr>
          <p:cNvPr id="12" name="Google Shape;12;p11"/>
          <p:cNvSpPr txBox="1">
            <a:spLocks noGrp="1"/>
          </p:cNvSpPr>
          <p:nvPr>
            <p:ph type="body" idx="1"/>
          </p:nvPr>
        </p:nvSpPr>
        <p:spPr>
          <a:xfrm>
            <a:off x="609600" y="1600200"/>
            <a:ext cx="10972800" cy="4525963"/>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1pPr>
            <a:lvl2pPr marL="914400" marR="0" lvl="1"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2pPr>
            <a:lvl3pPr marL="1371600" marR="0" lvl="2"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3pPr>
            <a:lvl4pPr marL="1828800" marR="0" lvl="3"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4pPr>
            <a:lvl5pPr marL="2286000" marR="0" lvl="4"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5pPr>
            <a:lvl6pPr marL="2743200" marR="0" lvl="5"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6pPr>
            <a:lvl7pPr marL="3200400" marR="0" lvl="6"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7pPr>
            <a:lvl8pPr marL="3657600" marR="0" lvl="7"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8pPr>
            <a:lvl9pPr marL="4114800" marR="0" lvl="8" indent="-406400" algn="l" rtl="0">
              <a:lnSpc>
                <a:spcPct val="90000"/>
              </a:lnSpc>
              <a:spcBef>
                <a:spcPts val="1000"/>
              </a:spcBef>
              <a:spcAft>
                <a:spcPts val="0"/>
              </a:spcAft>
              <a:buClr>
                <a:srgbClr val="000000"/>
              </a:buClr>
              <a:buSzPts val="28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3" name="Google Shape;13;p11"/>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1pPr>
            <a:lvl2pPr marL="0" marR="0" lvl="1"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2pPr>
            <a:lvl3pPr marL="0" marR="0" lvl="2"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3pPr>
            <a:lvl4pPr marL="0" marR="0" lvl="3"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4pPr>
            <a:lvl5pPr marL="0" marR="0" lvl="4"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5pPr>
            <a:lvl6pPr marL="0" marR="0" lvl="5"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6pPr>
            <a:lvl7pPr marL="0" marR="0" lvl="6"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7pPr>
            <a:lvl8pPr marL="0" marR="0" lvl="7"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8pPr>
            <a:lvl9pPr marL="0" marR="0" lvl="8" indent="0" algn="r" rtl="0">
              <a:lnSpc>
                <a:spcPct val="100000"/>
              </a:lnSpc>
              <a:spcBef>
                <a:spcPts val="0"/>
              </a:spcBef>
              <a:spcAft>
                <a:spcPts val="0"/>
              </a:spcAft>
              <a:buClr>
                <a:srgbClr val="808080"/>
              </a:buClr>
              <a:buSzPts val="1200"/>
              <a:buFont typeface="Helvetica Neue Light"/>
              <a:buNone/>
              <a:defRPr sz="1200" b="0" i="0" u="none" strike="noStrike" cap="none">
                <a:solidFill>
                  <a:srgbClr val="80808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ieeexplore.ieee.org/abstract/document/969016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ieeexplore.ieee.org/abstract/document/9892583/?casa_token=Ye3GQJ1JpD0AAAAA:GSlyds24pIa__7Od6UBSNs8nugbEwLvCbI8vG6w-YMYrFX2O-TUlUDo4xej3ulJUAvmO_4ij0J36" TargetMode="External"/><Relationship Id="rId4" Type="http://schemas.openxmlformats.org/officeDocument/2006/relationships/hyperlink" Target="https://doi.org/10.1038/s41598-024-51658-8"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a:spLocks noGrp="1"/>
          </p:cNvSpPr>
          <p:nvPr>
            <p:ph type="title"/>
          </p:nvPr>
        </p:nvSpPr>
        <p:spPr>
          <a:xfrm>
            <a:off x="838200" y="3090223"/>
            <a:ext cx="10515600" cy="844500"/>
          </a:xfrm>
          <a:prstGeom prst="rect">
            <a:avLst/>
          </a:prstGeom>
          <a:noFill/>
          <a:ln>
            <a:noFill/>
          </a:ln>
        </p:spPr>
        <p:txBody>
          <a:bodyPr spcFirstLastPara="1" wrap="square" lIns="45700" tIns="45700" rIns="45700" bIns="45700" anchor="t" anchorCtr="0">
            <a:noAutofit/>
          </a:bodyPr>
          <a:lstStyle/>
          <a:p>
            <a:pPr marL="0" lvl="0" indent="0" algn="ctr" rtl="0">
              <a:lnSpc>
                <a:spcPct val="90000"/>
              </a:lnSpc>
              <a:spcBef>
                <a:spcPts val="0"/>
              </a:spcBef>
              <a:spcAft>
                <a:spcPts val="0"/>
              </a:spcAft>
              <a:buClr>
                <a:srgbClr val="FEFEFE"/>
              </a:buClr>
              <a:buSzPts val="3060"/>
              <a:buFont typeface="Helvetica Neue"/>
              <a:buNone/>
            </a:pPr>
            <a:r>
              <a:rPr lang="en-US" sz="2500"/>
              <a:t>CSE623 Machine Learning Theory and Practice</a:t>
            </a:r>
            <a:br>
              <a:rPr lang="en-US" sz="2500"/>
            </a:br>
            <a:r>
              <a:rPr lang="en-US" sz="2500"/>
              <a:t>TheOverFitters</a:t>
            </a:r>
            <a:endParaRPr sz="2500"/>
          </a:p>
          <a:p>
            <a:pPr marL="0" lvl="0" indent="0" algn="ctr" rtl="0">
              <a:lnSpc>
                <a:spcPct val="90000"/>
              </a:lnSpc>
              <a:spcBef>
                <a:spcPts val="0"/>
              </a:spcBef>
              <a:spcAft>
                <a:spcPts val="0"/>
              </a:spcAft>
              <a:buClr>
                <a:srgbClr val="FEFEFE"/>
              </a:buClr>
              <a:buSzPts val="3060"/>
              <a:buFont typeface="Helvetica Neue"/>
              <a:buNone/>
            </a:pPr>
            <a:endParaRPr sz="2760"/>
          </a:p>
          <a:p>
            <a:pPr marL="0" lvl="0" indent="0" algn="ctr" rtl="0">
              <a:lnSpc>
                <a:spcPct val="90000"/>
              </a:lnSpc>
              <a:spcBef>
                <a:spcPts val="0"/>
              </a:spcBef>
              <a:spcAft>
                <a:spcPts val="0"/>
              </a:spcAft>
              <a:buClr>
                <a:srgbClr val="FEFEFE"/>
              </a:buClr>
              <a:buSzPts val="3060"/>
              <a:buFont typeface="Helvetica Neue"/>
              <a:buNone/>
            </a:pPr>
            <a:endParaRPr sz="2760"/>
          </a:p>
        </p:txBody>
      </p:sp>
      <p:sp>
        <p:nvSpPr>
          <p:cNvPr id="94" name="Google Shape;94;p1"/>
          <p:cNvSpPr txBox="1">
            <a:spLocks noGrp="1"/>
          </p:cNvSpPr>
          <p:nvPr>
            <p:ph type="title"/>
          </p:nvPr>
        </p:nvSpPr>
        <p:spPr>
          <a:xfrm>
            <a:off x="792900" y="4061975"/>
            <a:ext cx="10606200" cy="835500"/>
          </a:xfrm>
          <a:prstGeom prst="rect">
            <a:avLst/>
          </a:prstGeom>
          <a:noFill/>
          <a:ln>
            <a:noFill/>
          </a:ln>
        </p:spPr>
        <p:txBody>
          <a:bodyPr spcFirstLastPara="1" wrap="square" lIns="45700" tIns="45700" rIns="45700" bIns="45700" anchor="t" anchorCtr="0">
            <a:noAutofit/>
          </a:bodyPr>
          <a:lstStyle/>
          <a:p>
            <a:pPr marL="0" lvl="0" indent="0" algn="ctr" rtl="0">
              <a:lnSpc>
                <a:spcPct val="90000"/>
              </a:lnSpc>
              <a:spcBef>
                <a:spcPts val="0"/>
              </a:spcBef>
              <a:spcAft>
                <a:spcPts val="0"/>
              </a:spcAft>
              <a:buClr>
                <a:srgbClr val="FEFEFE"/>
              </a:buClr>
              <a:buSzPts val="3060"/>
              <a:buFont typeface="Helvetica Neue"/>
              <a:buNone/>
            </a:pPr>
            <a:r>
              <a:rPr lang="en-US" sz="2200"/>
              <a:t>Modelling and Prediction of Athlete Readiness based on Sleep and Recovery Patterns</a:t>
            </a:r>
            <a:endParaRPr sz="2200"/>
          </a:p>
        </p:txBody>
      </p:sp>
      <p:sp>
        <p:nvSpPr>
          <p:cNvPr id="95" name="Google Shape;95;p1"/>
          <p:cNvSpPr txBox="1"/>
          <p:nvPr/>
        </p:nvSpPr>
        <p:spPr>
          <a:xfrm>
            <a:off x="1200541" y="5676625"/>
            <a:ext cx="17583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2F1EE"/>
                </a:solidFill>
                <a:latin typeface="Helvetica Neue Light"/>
                <a:ea typeface="Helvetica Neue Light"/>
                <a:cs typeface="Helvetica Neue Light"/>
                <a:sym typeface="Helvetica Neue Light"/>
              </a:rPr>
              <a:t>Btech. CSE, </a:t>
            </a:r>
            <a:br>
              <a:rPr lang="en-US" sz="1400" b="0" i="0" u="none" strike="noStrike" cap="none">
                <a:solidFill>
                  <a:srgbClr val="F2F1EE"/>
                </a:solidFill>
                <a:latin typeface="Helvetica Neue Light"/>
                <a:ea typeface="Helvetica Neue Light"/>
                <a:cs typeface="Helvetica Neue Light"/>
                <a:sym typeface="Helvetica Neue Light"/>
              </a:rPr>
            </a:br>
            <a:r>
              <a:rPr lang="en-US" sz="1400" b="0" i="0" u="none" strike="noStrike" cap="none">
                <a:solidFill>
                  <a:srgbClr val="F2F1EE"/>
                </a:solidFill>
                <a:latin typeface="Helvetica Neue Light"/>
                <a:ea typeface="Helvetica Neue Light"/>
                <a:cs typeface="Helvetica Neue Light"/>
                <a:sym typeface="Helvetica Neue Light"/>
              </a:rPr>
              <a:t>School of Engineering and Applied Sciences</a:t>
            </a:r>
            <a:endParaRPr sz="2100" b="0" i="0" u="none" strike="noStrike" cap="none">
              <a:solidFill>
                <a:srgbClr val="F2F1EE"/>
              </a:solidFill>
              <a:latin typeface="Helvetica Neue Light"/>
              <a:ea typeface="Helvetica Neue Light"/>
              <a:cs typeface="Helvetica Neue Light"/>
              <a:sym typeface="Helvetica Neue Light"/>
            </a:endParaRPr>
          </a:p>
        </p:txBody>
      </p:sp>
      <p:sp>
        <p:nvSpPr>
          <p:cNvPr id="96" name="Google Shape;96;p1"/>
          <p:cNvSpPr txBox="1"/>
          <p:nvPr/>
        </p:nvSpPr>
        <p:spPr>
          <a:xfrm>
            <a:off x="921241" y="5042575"/>
            <a:ext cx="2280000" cy="414000"/>
          </a:xfrm>
          <a:prstGeom prst="rect">
            <a:avLst/>
          </a:prstGeom>
          <a:noFill/>
          <a:ln>
            <a:noFill/>
          </a:ln>
        </p:spPr>
        <p:txBody>
          <a:bodyPr spcFirstLastPara="1" wrap="square" lIns="45700" tIns="45700" rIns="45700" bIns="45700" anchor="t" anchorCtr="0">
            <a:noAutofit/>
          </a:bodyPr>
          <a:lstStyle/>
          <a:p>
            <a:pPr marL="0" marR="0" lvl="0" indent="0" algn="ctr" rtl="0">
              <a:lnSpc>
                <a:spcPct val="70000"/>
              </a:lnSpc>
              <a:spcBef>
                <a:spcPts val="0"/>
              </a:spcBef>
              <a:spcAft>
                <a:spcPts val="0"/>
              </a:spcAft>
              <a:buClr>
                <a:schemeClr val="dk1"/>
              </a:buClr>
              <a:buSzPts val="523"/>
              <a:buFont typeface="Arial"/>
              <a:buNone/>
            </a:pPr>
            <a:r>
              <a:rPr lang="en-US" sz="1600" b="1" i="0" u="none" strike="noStrike" cap="none">
                <a:solidFill>
                  <a:srgbClr val="FEFEFE"/>
                </a:solidFill>
                <a:latin typeface="Helvetica Neue"/>
                <a:ea typeface="Helvetica Neue"/>
                <a:cs typeface="Helvetica Neue"/>
                <a:sym typeface="Helvetica Neue"/>
              </a:rPr>
              <a:t>Rahil Patel</a:t>
            </a:r>
            <a:br>
              <a:rPr lang="en-US" sz="1600" b="1" i="0" u="none" strike="noStrike" cap="none">
                <a:solidFill>
                  <a:srgbClr val="FEFEFE"/>
                </a:solidFill>
                <a:latin typeface="Helvetica Neue"/>
                <a:ea typeface="Helvetica Neue"/>
                <a:cs typeface="Helvetica Neue"/>
                <a:sym typeface="Helvetica Neue"/>
              </a:rPr>
            </a:br>
            <a:br>
              <a:rPr lang="en-US" sz="1600" b="1" i="0" u="none" strike="noStrike" cap="none">
                <a:solidFill>
                  <a:srgbClr val="FEFEFE"/>
                </a:solidFill>
                <a:latin typeface="Helvetica Neue"/>
                <a:ea typeface="Helvetica Neue"/>
                <a:cs typeface="Helvetica Neue"/>
                <a:sym typeface="Helvetica Neue"/>
              </a:rPr>
            </a:br>
            <a:r>
              <a:rPr lang="en-US" sz="1600" b="1" i="0" u="none" strike="noStrike" cap="none">
                <a:solidFill>
                  <a:srgbClr val="FEFEFE"/>
                </a:solidFill>
                <a:latin typeface="Helvetica Neue"/>
                <a:ea typeface="Helvetica Neue"/>
                <a:cs typeface="Helvetica Neue"/>
                <a:sym typeface="Helvetica Neue"/>
              </a:rPr>
              <a:t>AU224021</a:t>
            </a:r>
            <a:r>
              <a:rPr lang="en-US" sz="1600" b="1">
                <a:solidFill>
                  <a:srgbClr val="FEFEFE"/>
                </a:solidFill>
                <a:latin typeface="Helvetica Neue"/>
                <a:ea typeface="Helvetica Neue"/>
                <a:cs typeface="Helvetica Neue"/>
                <a:sym typeface="Helvetica Neue"/>
              </a:rPr>
              <a:t>1</a:t>
            </a:r>
            <a:endParaRPr sz="1600" b="1" i="0" u="none" strike="noStrike" cap="none">
              <a:solidFill>
                <a:srgbClr val="FEFEFE"/>
              </a:solidFill>
              <a:latin typeface="Helvetica Neue"/>
              <a:ea typeface="Helvetica Neue"/>
              <a:cs typeface="Helvetica Neue"/>
              <a:sym typeface="Helvetica Neue"/>
            </a:endParaRPr>
          </a:p>
          <a:p>
            <a:pPr marL="0" marR="0" lvl="0" indent="0" algn="ctr" rtl="0">
              <a:lnSpc>
                <a:spcPct val="90000"/>
              </a:lnSpc>
              <a:spcBef>
                <a:spcPts val="0"/>
              </a:spcBef>
              <a:spcAft>
                <a:spcPts val="0"/>
              </a:spcAft>
              <a:buClr>
                <a:srgbClr val="000000"/>
              </a:buClr>
              <a:buSzPts val="1600"/>
              <a:buFont typeface="Arial"/>
              <a:buNone/>
            </a:pPr>
            <a:endParaRPr sz="1600" b="1" i="0" u="none" strike="noStrike" cap="none">
              <a:solidFill>
                <a:srgbClr val="FEFEFE"/>
              </a:solidFill>
              <a:latin typeface="Helvetica Neue"/>
              <a:ea typeface="Helvetica Neue"/>
              <a:cs typeface="Helvetica Neue"/>
              <a:sym typeface="Helvetica Neue"/>
            </a:endParaRPr>
          </a:p>
        </p:txBody>
      </p:sp>
      <p:sp>
        <p:nvSpPr>
          <p:cNvPr id="97" name="Google Shape;97;p1"/>
          <p:cNvSpPr txBox="1"/>
          <p:nvPr/>
        </p:nvSpPr>
        <p:spPr>
          <a:xfrm>
            <a:off x="3231858" y="5676625"/>
            <a:ext cx="17583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2F1EE"/>
                </a:solidFill>
                <a:latin typeface="Helvetica Neue Light"/>
                <a:ea typeface="Helvetica Neue Light"/>
                <a:cs typeface="Helvetica Neue Light"/>
                <a:sym typeface="Helvetica Neue Light"/>
              </a:rPr>
              <a:t>Btech. CSE, </a:t>
            </a:r>
            <a:br>
              <a:rPr lang="en-US" sz="1400" b="0" i="0" u="none" strike="noStrike" cap="none">
                <a:solidFill>
                  <a:srgbClr val="F2F1EE"/>
                </a:solidFill>
                <a:latin typeface="Helvetica Neue Light"/>
                <a:ea typeface="Helvetica Neue Light"/>
                <a:cs typeface="Helvetica Neue Light"/>
                <a:sym typeface="Helvetica Neue Light"/>
              </a:rPr>
            </a:br>
            <a:r>
              <a:rPr lang="en-US" sz="1400" b="0" i="0" u="none" strike="noStrike" cap="none">
                <a:solidFill>
                  <a:srgbClr val="F2F1EE"/>
                </a:solidFill>
                <a:latin typeface="Helvetica Neue Light"/>
                <a:ea typeface="Helvetica Neue Light"/>
                <a:cs typeface="Helvetica Neue Light"/>
                <a:sym typeface="Helvetica Neue Light"/>
              </a:rPr>
              <a:t>School of Engineering and Applied Sciences</a:t>
            </a:r>
            <a:endParaRPr sz="2100" b="0" i="0" u="none" strike="noStrike" cap="none">
              <a:solidFill>
                <a:srgbClr val="F2F1EE"/>
              </a:solidFill>
              <a:latin typeface="Helvetica Neue Light"/>
              <a:ea typeface="Helvetica Neue Light"/>
              <a:cs typeface="Helvetica Neue Light"/>
              <a:sym typeface="Helvetica Neue Light"/>
            </a:endParaRPr>
          </a:p>
        </p:txBody>
      </p:sp>
      <p:sp>
        <p:nvSpPr>
          <p:cNvPr id="98" name="Google Shape;98;p1"/>
          <p:cNvSpPr txBox="1"/>
          <p:nvPr/>
        </p:nvSpPr>
        <p:spPr>
          <a:xfrm>
            <a:off x="2952558" y="5033713"/>
            <a:ext cx="2280000" cy="414000"/>
          </a:xfrm>
          <a:prstGeom prst="rect">
            <a:avLst/>
          </a:prstGeom>
          <a:noFill/>
          <a:ln>
            <a:noFill/>
          </a:ln>
        </p:spPr>
        <p:txBody>
          <a:bodyPr spcFirstLastPara="1" wrap="square" lIns="45700" tIns="45700" rIns="45700" bIns="45700" anchor="t" anchorCtr="0">
            <a:noAutofit/>
          </a:bodyPr>
          <a:lstStyle/>
          <a:p>
            <a:pPr marL="0" marR="0" lvl="0" indent="0" algn="ctr" rtl="0">
              <a:lnSpc>
                <a:spcPct val="70000"/>
              </a:lnSpc>
              <a:spcBef>
                <a:spcPts val="0"/>
              </a:spcBef>
              <a:spcAft>
                <a:spcPts val="0"/>
              </a:spcAft>
              <a:buClr>
                <a:schemeClr val="dk1"/>
              </a:buClr>
              <a:buSzPts val="523"/>
              <a:buFont typeface="Arial"/>
              <a:buNone/>
            </a:pPr>
            <a:r>
              <a:rPr lang="en-US" sz="1600" b="1" i="0" u="none" strike="noStrike" cap="none">
                <a:solidFill>
                  <a:srgbClr val="FEFEFE"/>
                </a:solidFill>
                <a:latin typeface="Helvetica Neue"/>
                <a:ea typeface="Helvetica Neue"/>
                <a:cs typeface="Helvetica Neue"/>
                <a:sym typeface="Helvetica Neue"/>
              </a:rPr>
              <a:t>Yash Smart</a:t>
            </a:r>
            <a:br>
              <a:rPr lang="en-US" sz="1600" b="1" i="0" u="none" strike="noStrike" cap="none">
                <a:solidFill>
                  <a:srgbClr val="FEFEFE"/>
                </a:solidFill>
                <a:latin typeface="Helvetica Neue"/>
                <a:ea typeface="Helvetica Neue"/>
                <a:cs typeface="Helvetica Neue"/>
                <a:sym typeface="Helvetica Neue"/>
              </a:rPr>
            </a:br>
            <a:br>
              <a:rPr lang="en-US" sz="1600" b="1" i="0" u="none" strike="noStrike" cap="none">
                <a:solidFill>
                  <a:srgbClr val="FEFEFE"/>
                </a:solidFill>
                <a:latin typeface="Helvetica Neue"/>
                <a:ea typeface="Helvetica Neue"/>
                <a:cs typeface="Helvetica Neue"/>
                <a:sym typeface="Helvetica Neue"/>
              </a:rPr>
            </a:br>
            <a:r>
              <a:rPr lang="en-US" sz="1600" b="1" i="0" u="none" strike="noStrike" cap="none">
                <a:solidFill>
                  <a:srgbClr val="FEFEFE"/>
                </a:solidFill>
                <a:latin typeface="Helvetica Neue"/>
                <a:ea typeface="Helvetica Neue"/>
                <a:cs typeface="Helvetica Neue"/>
                <a:sym typeface="Helvetica Neue"/>
              </a:rPr>
              <a:t>AU2240076</a:t>
            </a:r>
            <a:endParaRPr sz="1600" b="1" i="0" u="none" strike="noStrike" cap="none">
              <a:solidFill>
                <a:srgbClr val="FEFEFE"/>
              </a:solidFill>
              <a:latin typeface="Helvetica Neue"/>
              <a:ea typeface="Helvetica Neue"/>
              <a:cs typeface="Helvetica Neue"/>
              <a:sym typeface="Helvetica Neue"/>
            </a:endParaRPr>
          </a:p>
          <a:p>
            <a:pPr marL="0" marR="0" lvl="0" indent="0" algn="ctr" rtl="0">
              <a:lnSpc>
                <a:spcPct val="90000"/>
              </a:lnSpc>
              <a:spcBef>
                <a:spcPts val="0"/>
              </a:spcBef>
              <a:spcAft>
                <a:spcPts val="0"/>
              </a:spcAft>
              <a:buClr>
                <a:srgbClr val="000000"/>
              </a:buClr>
              <a:buSzPts val="1600"/>
              <a:buFont typeface="Arial"/>
              <a:buNone/>
            </a:pPr>
            <a:endParaRPr sz="1600" b="1" i="0" u="none" strike="noStrike" cap="none">
              <a:solidFill>
                <a:srgbClr val="FEFEFE"/>
              </a:solidFill>
              <a:latin typeface="Helvetica Neue"/>
              <a:ea typeface="Helvetica Neue"/>
              <a:cs typeface="Helvetica Neue"/>
              <a:sym typeface="Helvetica Neue"/>
            </a:endParaRPr>
          </a:p>
        </p:txBody>
      </p:sp>
      <p:sp>
        <p:nvSpPr>
          <p:cNvPr id="99" name="Google Shape;99;p1"/>
          <p:cNvSpPr txBox="1"/>
          <p:nvPr/>
        </p:nvSpPr>
        <p:spPr>
          <a:xfrm>
            <a:off x="5020775" y="5676625"/>
            <a:ext cx="17583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2F1EE"/>
                </a:solidFill>
                <a:latin typeface="Helvetica Neue Light"/>
                <a:ea typeface="Helvetica Neue Light"/>
                <a:cs typeface="Helvetica Neue Light"/>
                <a:sym typeface="Helvetica Neue Light"/>
              </a:rPr>
              <a:t>Btech. CSE, </a:t>
            </a:r>
            <a:br>
              <a:rPr lang="en-US" sz="1400" b="0" i="0" u="none" strike="noStrike" cap="none">
                <a:solidFill>
                  <a:srgbClr val="F2F1EE"/>
                </a:solidFill>
                <a:latin typeface="Helvetica Neue Light"/>
                <a:ea typeface="Helvetica Neue Light"/>
                <a:cs typeface="Helvetica Neue Light"/>
                <a:sym typeface="Helvetica Neue Light"/>
              </a:rPr>
            </a:br>
            <a:r>
              <a:rPr lang="en-US" sz="1400" b="0" i="0" u="none" strike="noStrike" cap="none">
                <a:solidFill>
                  <a:srgbClr val="F2F1EE"/>
                </a:solidFill>
                <a:latin typeface="Helvetica Neue Light"/>
                <a:ea typeface="Helvetica Neue Light"/>
                <a:cs typeface="Helvetica Neue Light"/>
                <a:sym typeface="Helvetica Neue Light"/>
              </a:rPr>
              <a:t>School of Engineering and Applied Sciences</a:t>
            </a:r>
            <a:endParaRPr sz="2100" b="0" i="0" u="none" strike="noStrike" cap="none">
              <a:solidFill>
                <a:srgbClr val="F2F1EE"/>
              </a:solidFill>
              <a:latin typeface="Helvetica Neue Light"/>
              <a:ea typeface="Helvetica Neue Light"/>
              <a:cs typeface="Helvetica Neue Light"/>
              <a:sym typeface="Helvetica Neue Light"/>
            </a:endParaRPr>
          </a:p>
        </p:txBody>
      </p:sp>
      <p:sp>
        <p:nvSpPr>
          <p:cNvPr id="100" name="Google Shape;100;p1"/>
          <p:cNvSpPr txBox="1"/>
          <p:nvPr/>
        </p:nvSpPr>
        <p:spPr>
          <a:xfrm>
            <a:off x="4719600" y="5033713"/>
            <a:ext cx="2280000" cy="414000"/>
          </a:xfrm>
          <a:prstGeom prst="rect">
            <a:avLst/>
          </a:prstGeom>
          <a:noFill/>
          <a:ln>
            <a:noFill/>
          </a:ln>
        </p:spPr>
        <p:txBody>
          <a:bodyPr spcFirstLastPara="1" wrap="square" lIns="45700" tIns="45700" rIns="45700" bIns="45700" anchor="t" anchorCtr="0">
            <a:noAutofit/>
          </a:bodyPr>
          <a:lstStyle/>
          <a:p>
            <a:pPr marL="0" marR="0" lvl="0" indent="0" algn="ctr" rtl="0">
              <a:lnSpc>
                <a:spcPct val="70000"/>
              </a:lnSpc>
              <a:spcBef>
                <a:spcPts val="0"/>
              </a:spcBef>
              <a:spcAft>
                <a:spcPts val="0"/>
              </a:spcAft>
              <a:buClr>
                <a:srgbClr val="000000"/>
              </a:buClr>
              <a:buSzPts val="523"/>
              <a:buFont typeface="Arial"/>
              <a:buNone/>
            </a:pPr>
            <a:r>
              <a:rPr lang="en-US" sz="1600" b="1" i="0" u="none" strike="noStrike" cap="none">
                <a:solidFill>
                  <a:srgbClr val="FEFEFE"/>
                </a:solidFill>
                <a:latin typeface="Helvetica Neue"/>
                <a:ea typeface="Helvetica Neue"/>
                <a:cs typeface="Helvetica Neue"/>
                <a:sym typeface="Helvetica Neue"/>
              </a:rPr>
              <a:t>Prem Patel</a:t>
            </a:r>
            <a:br>
              <a:rPr lang="en-US" sz="1600" b="1" i="0" u="none" strike="noStrike" cap="none">
                <a:solidFill>
                  <a:schemeClr val="lt1"/>
                </a:solidFill>
                <a:latin typeface="Helvetica Neue"/>
                <a:ea typeface="Helvetica Neue"/>
                <a:cs typeface="Helvetica Neue"/>
                <a:sym typeface="Helvetica Neue"/>
              </a:rPr>
            </a:br>
            <a:br>
              <a:rPr lang="en-US" sz="1600" b="1" i="0" u="none" strike="noStrike" cap="none">
                <a:solidFill>
                  <a:schemeClr val="lt1"/>
                </a:solidFill>
                <a:latin typeface="Helvetica Neue"/>
                <a:ea typeface="Helvetica Neue"/>
                <a:cs typeface="Helvetica Neue"/>
                <a:sym typeface="Helvetica Neue"/>
              </a:rPr>
            </a:br>
            <a:r>
              <a:rPr lang="en-US" sz="1600" b="1" i="0" u="none" strike="noStrike" cap="none">
                <a:solidFill>
                  <a:schemeClr val="lt1"/>
                </a:solidFill>
                <a:latin typeface="Helvetica Neue"/>
                <a:ea typeface="Helvetica Neue"/>
                <a:cs typeface="Helvetica Neue"/>
                <a:sym typeface="Helvetica Neue"/>
              </a:rPr>
              <a:t>AU2240010</a:t>
            </a:r>
            <a:endParaRPr sz="1600" b="1" i="0" u="none" strike="noStrike" cap="none">
              <a:solidFill>
                <a:schemeClr val="lt1"/>
              </a:solidFill>
              <a:latin typeface="Helvetica Neue"/>
              <a:ea typeface="Helvetica Neue"/>
              <a:cs typeface="Helvetica Neue"/>
              <a:sym typeface="Helvetica Neue"/>
            </a:endParaRPr>
          </a:p>
        </p:txBody>
      </p:sp>
      <p:sp>
        <p:nvSpPr>
          <p:cNvPr id="101" name="Google Shape;101;p1"/>
          <p:cNvSpPr txBox="1"/>
          <p:nvPr/>
        </p:nvSpPr>
        <p:spPr>
          <a:xfrm>
            <a:off x="7118400" y="5658925"/>
            <a:ext cx="17583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2F1EE"/>
                </a:solidFill>
                <a:latin typeface="Helvetica Neue Light"/>
                <a:ea typeface="Helvetica Neue Light"/>
                <a:cs typeface="Helvetica Neue Light"/>
                <a:sym typeface="Helvetica Neue Light"/>
              </a:rPr>
              <a:t>Btech. CSE, </a:t>
            </a:r>
            <a:br>
              <a:rPr lang="en-US" sz="1400" b="0" i="0" u="none" strike="noStrike" cap="none">
                <a:solidFill>
                  <a:srgbClr val="F2F1EE"/>
                </a:solidFill>
                <a:latin typeface="Helvetica Neue Light"/>
                <a:ea typeface="Helvetica Neue Light"/>
                <a:cs typeface="Helvetica Neue Light"/>
                <a:sym typeface="Helvetica Neue Light"/>
              </a:rPr>
            </a:br>
            <a:r>
              <a:rPr lang="en-US" sz="1400" b="0" i="0" u="none" strike="noStrike" cap="none">
                <a:solidFill>
                  <a:srgbClr val="F2F1EE"/>
                </a:solidFill>
                <a:latin typeface="Helvetica Neue Light"/>
                <a:ea typeface="Helvetica Neue Light"/>
                <a:cs typeface="Helvetica Neue Light"/>
                <a:sym typeface="Helvetica Neue Light"/>
              </a:rPr>
              <a:t>School of Engineering and Applied Sciences</a:t>
            </a:r>
            <a:endParaRPr sz="2100" b="0" i="0" u="none" strike="noStrike" cap="none">
              <a:solidFill>
                <a:srgbClr val="F2F1EE"/>
              </a:solidFill>
              <a:latin typeface="Helvetica Neue Light"/>
              <a:ea typeface="Helvetica Neue Light"/>
              <a:cs typeface="Helvetica Neue Light"/>
              <a:sym typeface="Helvetica Neue Light"/>
            </a:endParaRPr>
          </a:p>
        </p:txBody>
      </p:sp>
      <p:sp>
        <p:nvSpPr>
          <p:cNvPr id="102" name="Google Shape;102;p1"/>
          <p:cNvSpPr txBox="1"/>
          <p:nvPr/>
        </p:nvSpPr>
        <p:spPr>
          <a:xfrm>
            <a:off x="6839100" y="5024875"/>
            <a:ext cx="2280000" cy="414000"/>
          </a:xfrm>
          <a:prstGeom prst="rect">
            <a:avLst/>
          </a:prstGeom>
          <a:noFill/>
          <a:ln>
            <a:noFill/>
          </a:ln>
        </p:spPr>
        <p:txBody>
          <a:bodyPr spcFirstLastPara="1" wrap="square" lIns="45700" tIns="45700" rIns="45700" bIns="45700" anchor="t" anchorCtr="0">
            <a:noAutofit/>
          </a:bodyPr>
          <a:lstStyle/>
          <a:p>
            <a:pPr marL="0" marR="0" lvl="0" indent="0" algn="ctr" rtl="0">
              <a:lnSpc>
                <a:spcPct val="70000"/>
              </a:lnSpc>
              <a:spcBef>
                <a:spcPts val="0"/>
              </a:spcBef>
              <a:spcAft>
                <a:spcPts val="0"/>
              </a:spcAft>
              <a:buClr>
                <a:schemeClr val="dk1"/>
              </a:buClr>
              <a:buSzPts val="523"/>
              <a:buFont typeface="Arial"/>
              <a:buNone/>
            </a:pPr>
            <a:r>
              <a:rPr lang="en-US" sz="1800" b="1" i="0" u="none" strike="noStrike" cap="none">
                <a:solidFill>
                  <a:schemeClr val="lt1"/>
                </a:solidFill>
                <a:latin typeface="Arial"/>
                <a:ea typeface="Arial"/>
                <a:cs typeface="Arial"/>
                <a:sym typeface="Arial"/>
              </a:rPr>
              <a:t>Aryan Sukhadia</a:t>
            </a:r>
            <a:br>
              <a:rPr lang="en-US" sz="1600" b="1" i="0" u="none" strike="noStrike" cap="none">
                <a:solidFill>
                  <a:schemeClr val="lt1"/>
                </a:solidFill>
                <a:latin typeface="Helvetica Neue"/>
                <a:ea typeface="Helvetica Neue"/>
                <a:cs typeface="Helvetica Neue"/>
                <a:sym typeface="Helvetica Neue"/>
              </a:rPr>
            </a:br>
            <a:br>
              <a:rPr lang="en-US" sz="1600" b="1" i="0" u="none" strike="noStrike" cap="none">
                <a:solidFill>
                  <a:schemeClr val="lt1"/>
                </a:solidFill>
                <a:latin typeface="Helvetica Neue"/>
                <a:ea typeface="Helvetica Neue"/>
                <a:cs typeface="Helvetica Neue"/>
                <a:sym typeface="Helvetica Neue"/>
              </a:rPr>
            </a:br>
            <a:r>
              <a:rPr lang="en-US" sz="1600" b="1" i="0" u="none" strike="noStrike" cap="none">
                <a:solidFill>
                  <a:schemeClr val="lt1"/>
                </a:solidFill>
                <a:latin typeface="Helvetica Neue"/>
                <a:ea typeface="Helvetica Neue"/>
                <a:cs typeface="Helvetica Neue"/>
                <a:sym typeface="Helvetica Neue"/>
              </a:rPr>
              <a:t>AU2240069</a:t>
            </a:r>
            <a:endParaRPr sz="1600" b="1" i="0" u="none" strike="noStrike" cap="none">
              <a:solidFill>
                <a:schemeClr val="lt1"/>
              </a:solidFill>
              <a:latin typeface="Helvetica Neue"/>
              <a:ea typeface="Helvetica Neue"/>
              <a:cs typeface="Helvetica Neue"/>
              <a:sym typeface="Helvetica Neue"/>
            </a:endParaRPr>
          </a:p>
          <a:p>
            <a:pPr marL="0" marR="0" lvl="0" indent="0" algn="ctr" rtl="0">
              <a:lnSpc>
                <a:spcPct val="90000"/>
              </a:lnSpc>
              <a:spcBef>
                <a:spcPts val="0"/>
              </a:spcBef>
              <a:spcAft>
                <a:spcPts val="0"/>
              </a:spcAft>
              <a:buClr>
                <a:srgbClr val="000000"/>
              </a:buClr>
              <a:buSzPts val="1600"/>
              <a:buFont typeface="Arial"/>
              <a:buNone/>
            </a:pPr>
            <a:endParaRPr sz="1600" b="1" i="0" u="none" strike="noStrike" cap="none">
              <a:solidFill>
                <a:srgbClr val="FEFEFE"/>
              </a:solidFill>
              <a:latin typeface="Helvetica Neue"/>
              <a:ea typeface="Helvetica Neue"/>
              <a:cs typeface="Helvetica Neue"/>
              <a:sym typeface="Helvetica Neue"/>
            </a:endParaRPr>
          </a:p>
        </p:txBody>
      </p:sp>
      <p:sp>
        <p:nvSpPr>
          <p:cNvPr id="103" name="Google Shape;103;p1"/>
          <p:cNvSpPr txBox="1"/>
          <p:nvPr/>
        </p:nvSpPr>
        <p:spPr>
          <a:xfrm>
            <a:off x="9398400" y="5658777"/>
            <a:ext cx="17583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2F1EE"/>
                </a:solidFill>
                <a:latin typeface="Helvetica Neue Light"/>
                <a:ea typeface="Helvetica Neue Light"/>
                <a:cs typeface="Helvetica Neue Light"/>
                <a:sym typeface="Helvetica Neue Light"/>
              </a:rPr>
              <a:t>Btech. CSE, </a:t>
            </a:r>
            <a:br>
              <a:rPr lang="en-US" sz="1400" b="0" i="0" u="none" strike="noStrike" cap="none">
                <a:solidFill>
                  <a:srgbClr val="F2F1EE"/>
                </a:solidFill>
                <a:latin typeface="Helvetica Neue Light"/>
                <a:ea typeface="Helvetica Neue Light"/>
                <a:cs typeface="Helvetica Neue Light"/>
                <a:sym typeface="Helvetica Neue Light"/>
              </a:rPr>
            </a:br>
            <a:r>
              <a:rPr lang="en-US" sz="1400" b="0" i="0" u="none" strike="noStrike" cap="none">
                <a:solidFill>
                  <a:srgbClr val="F2F1EE"/>
                </a:solidFill>
                <a:latin typeface="Helvetica Neue Light"/>
                <a:ea typeface="Helvetica Neue Light"/>
                <a:cs typeface="Helvetica Neue Light"/>
                <a:sym typeface="Helvetica Neue Light"/>
              </a:rPr>
              <a:t>School of Engineering and Applied Sciences</a:t>
            </a:r>
            <a:endParaRPr sz="2100" b="0" i="0" u="none" strike="noStrike" cap="none">
              <a:solidFill>
                <a:srgbClr val="F2F1EE"/>
              </a:solidFill>
              <a:latin typeface="Helvetica Neue Light"/>
              <a:ea typeface="Helvetica Neue Light"/>
              <a:cs typeface="Helvetica Neue Light"/>
              <a:sym typeface="Helvetica Neue Light"/>
            </a:endParaRPr>
          </a:p>
        </p:txBody>
      </p:sp>
      <p:sp>
        <p:nvSpPr>
          <p:cNvPr id="104" name="Google Shape;104;p1"/>
          <p:cNvSpPr txBox="1"/>
          <p:nvPr/>
        </p:nvSpPr>
        <p:spPr>
          <a:xfrm>
            <a:off x="9119100" y="5024727"/>
            <a:ext cx="2280000" cy="414000"/>
          </a:xfrm>
          <a:prstGeom prst="rect">
            <a:avLst/>
          </a:prstGeom>
          <a:noFill/>
          <a:ln>
            <a:noFill/>
          </a:ln>
        </p:spPr>
        <p:txBody>
          <a:bodyPr spcFirstLastPara="1" wrap="square" lIns="45700" tIns="45700" rIns="45700" bIns="45700" anchor="t" anchorCtr="0">
            <a:noAutofit/>
          </a:bodyPr>
          <a:lstStyle/>
          <a:p>
            <a:pPr marL="0" marR="0" lvl="0" indent="0" algn="ctr" rtl="0">
              <a:lnSpc>
                <a:spcPct val="70000"/>
              </a:lnSpc>
              <a:spcBef>
                <a:spcPts val="0"/>
              </a:spcBef>
              <a:spcAft>
                <a:spcPts val="0"/>
              </a:spcAft>
              <a:buClr>
                <a:schemeClr val="dk1"/>
              </a:buClr>
              <a:buSzPts val="523"/>
              <a:buFont typeface="Arial"/>
              <a:buNone/>
            </a:pPr>
            <a:r>
              <a:rPr lang="en-US" sz="1800" b="1" i="0" u="none" strike="noStrike" cap="none">
                <a:solidFill>
                  <a:schemeClr val="lt1"/>
                </a:solidFill>
                <a:latin typeface="Arial"/>
                <a:ea typeface="Arial"/>
                <a:cs typeface="Arial"/>
                <a:sym typeface="Arial"/>
              </a:rPr>
              <a:t>Naitik Shah</a:t>
            </a:r>
            <a:br>
              <a:rPr lang="en-US" sz="1600" b="1" i="0" u="none" strike="noStrike" cap="none">
                <a:solidFill>
                  <a:schemeClr val="lt1"/>
                </a:solidFill>
                <a:latin typeface="Helvetica Neue"/>
                <a:ea typeface="Helvetica Neue"/>
                <a:cs typeface="Helvetica Neue"/>
                <a:sym typeface="Helvetica Neue"/>
              </a:rPr>
            </a:br>
            <a:br>
              <a:rPr lang="en-US" sz="1600" b="1" i="0" u="none" strike="noStrike" cap="none">
                <a:solidFill>
                  <a:schemeClr val="lt1"/>
                </a:solidFill>
                <a:latin typeface="Helvetica Neue"/>
                <a:ea typeface="Helvetica Neue"/>
                <a:cs typeface="Helvetica Neue"/>
                <a:sym typeface="Helvetica Neue"/>
              </a:rPr>
            </a:br>
            <a:r>
              <a:rPr lang="en-US" sz="1600" b="1" i="0" u="none" strike="noStrike" cap="none">
                <a:solidFill>
                  <a:schemeClr val="lt1"/>
                </a:solidFill>
                <a:latin typeface="Helvetica Neue"/>
                <a:ea typeface="Helvetica Neue"/>
                <a:cs typeface="Helvetica Neue"/>
                <a:sym typeface="Helvetica Neue"/>
              </a:rPr>
              <a:t>AU2240047</a:t>
            </a:r>
            <a:endParaRPr sz="1600" b="1" i="0" u="none" strike="noStrike" cap="none">
              <a:solidFill>
                <a:schemeClr val="lt1"/>
              </a:solidFill>
              <a:latin typeface="Helvetica Neue"/>
              <a:ea typeface="Helvetica Neue"/>
              <a:cs typeface="Helvetica Neue"/>
              <a:sym typeface="Helvetica Neue"/>
            </a:endParaRPr>
          </a:p>
          <a:p>
            <a:pPr marL="0" marR="0" lvl="0" indent="0" algn="ctr" rtl="0">
              <a:lnSpc>
                <a:spcPct val="90000"/>
              </a:lnSpc>
              <a:spcBef>
                <a:spcPts val="0"/>
              </a:spcBef>
              <a:spcAft>
                <a:spcPts val="0"/>
              </a:spcAft>
              <a:buClr>
                <a:srgbClr val="000000"/>
              </a:buClr>
              <a:buSzPts val="1600"/>
              <a:buFont typeface="Arial"/>
              <a:buNone/>
            </a:pPr>
            <a:endParaRPr sz="1600" b="1" i="0" u="none" strike="noStrike" cap="none">
              <a:solidFill>
                <a:srgbClr val="FEFEFE"/>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2c3ff8a06be_0_0"/>
          <p:cNvSpPr txBox="1">
            <a:spLocks noGrp="1"/>
          </p:cNvSpPr>
          <p:nvPr>
            <p:ph type="title"/>
          </p:nvPr>
        </p:nvSpPr>
        <p:spPr>
          <a:xfrm>
            <a:off x="594303" y="-38100"/>
            <a:ext cx="10515600" cy="1325700"/>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SzPts val="4000"/>
              <a:buNone/>
            </a:pPr>
            <a:r>
              <a:rPr lang="en-US"/>
              <a:t>Content</a:t>
            </a:r>
            <a:endParaRPr/>
          </a:p>
        </p:txBody>
      </p:sp>
      <p:sp>
        <p:nvSpPr>
          <p:cNvPr id="110" name="Google Shape;110;g2c3ff8a06be_0_0"/>
          <p:cNvSpPr txBox="1">
            <a:spLocks noGrp="1"/>
          </p:cNvSpPr>
          <p:nvPr>
            <p:ph type="body" idx="1"/>
          </p:nvPr>
        </p:nvSpPr>
        <p:spPr>
          <a:xfrm>
            <a:off x="582426" y="1464149"/>
            <a:ext cx="10515600" cy="4351200"/>
          </a:xfrm>
          <a:prstGeom prst="rect">
            <a:avLst/>
          </a:prstGeom>
          <a:noFill/>
          <a:ln>
            <a:noFill/>
          </a:ln>
        </p:spPr>
        <p:txBody>
          <a:bodyPr spcFirstLastPara="1" wrap="square" lIns="45700" tIns="45700" rIns="45700" bIns="45700" anchor="t" anchorCtr="0">
            <a:normAutofit/>
          </a:bodyPr>
          <a:lstStyle/>
          <a:p>
            <a:pPr marL="457200" lvl="0" indent="-412750" algn="l" rtl="0">
              <a:lnSpc>
                <a:spcPct val="150000"/>
              </a:lnSpc>
              <a:spcBef>
                <a:spcPts val="1000"/>
              </a:spcBef>
              <a:spcAft>
                <a:spcPts val="0"/>
              </a:spcAft>
              <a:buSzPts val="2900"/>
              <a:buFont typeface="Times New Roman"/>
              <a:buChar char="•"/>
            </a:pPr>
            <a:r>
              <a:rPr lang="en-US" sz="2900">
                <a:latin typeface="Times New Roman"/>
                <a:ea typeface="Times New Roman"/>
                <a:cs typeface="Times New Roman"/>
                <a:sym typeface="Times New Roman"/>
              </a:rPr>
              <a:t>Introduction</a:t>
            </a:r>
            <a:endParaRPr/>
          </a:p>
          <a:p>
            <a:pPr marL="457200" lvl="0" indent="-412750" algn="l" rtl="0">
              <a:lnSpc>
                <a:spcPct val="150000"/>
              </a:lnSpc>
              <a:spcBef>
                <a:spcPts val="1000"/>
              </a:spcBef>
              <a:spcAft>
                <a:spcPts val="0"/>
              </a:spcAft>
              <a:buSzPts val="2900"/>
              <a:buFont typeface="Times New Roman"/>
              <a:buChar char="•"/>
            </a:pPr>
            <a:r>
              <a:rPr lang="en-US" sz="2900">
                <a:latin typeface="Times New Roman"/>
                <a:ea typeface="Times New Roman"/>
                <a:cs typeface="Times New Roman"/>
                <a:sym typeface="Times New Roman"/>
              </a:rPr>
              <a:t>Problem Statement</a:t>
            </a:r>
            <a:endParaRPr sz="2900">
              <a:latin typeface="Times New Roman"/>
              <a:ea typeface="Times New Roman"/>
              <a:cs typeface="Times New Roman"/>
              <a:sym typeface="Times New Roman"/>
            </a:endParaRPr>
          </a:p>
          <a:p>
            <a:pPr marL="457200" lvl="0" indent="-412750" algn="l" rtl="0">
              <a:lnSpc>
                <a:spcPct val="15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Literature Survey</a:t>
            </a:r>
            <a:endParaRPr sz="2900">
              <a:latin typeface="Times New Roman"/>
              <a:ea typeface="Times New Roman"/>
              <a:cs typeface="Times New Roman"/>
              <a:sym typeface="Times New Roman"/>
            </a:endParaRPr>
          </a:p>
          <a:p>
            <a:pPr marL="457200" lvl="0" indent="-412750" algn="l" rtl="0">
              <a:lnSpc>
                <a:spcPct val="15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Dataset Discussion</a:t>
            </a:r>
            <a:endParaRPr sz="2900">
              <a:latin typeface="Times New Roman"/>
              <a:ea typeface="Times New Roman"/>
              <a:cs typeface="Times New Roman"/>
              <a:sym typeface="Times New Roman"/>
            </a:endParaRPr>
          </a:p>
          <a:p>
            <a:pPr marL="457200" lvl="0" indent="-412750" algn="l" rtl="0">
              <a:lnSpc>
                <a:spcPct val="15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Approach, Results &amp; Future Work</a:t>
            </a:r>
            <a:endParaRPr sz="2900">
              <a:latin typeface="Times New Roman"/>
              <a:ea typeface="Times New Roman"/>
              <a:cs typeface="Times New Roman"/>
              <a:sym typeface="Times New Roman"/>
            </a:endParaRPr>
          </a:p>
          <a:p>
            <a:pPr marL="457200" lvl="0" indent="-412750" algn="l" rtl="0">
              <a:lnSpc>
                <a:spcPct val="150000"/>
              </a:lnSpc>
              <a:spcBef>
                <a:spcPts val="0"/>
              </a:spcBef>
              <a:spcAft>
                <a:spcPts val="0"/>
              </a:spcAft>
              <a:buSzPts val="2900"/>
              <a:buFont typeface="Times New Roman"/>
              <a:buChar char="•"/>
            </a:pPr>
            <a:r>
              <a:rPr lang="en-US" sz="2900">
                <a:latin typeface="Times New Roman"/>
                <a:ea typeface="Times New Roman"/>
                <a:cs typeface="Times New Roman"/>
                <a:sym typeface="Times New Roman"/>
              </a:rPr>
              <a:t>References</a:t>
            </a:r>
            <a:endParaRPr sz="29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a:spLocks noGrp="1"/>
          </p:cNvSpPr>
          <p:nvPr>
            <p:ph type="title"/>
          </p:nvPr>
        </p:nvSpPr>
        <p:spPr>
          <a:xfrm>
            <a:off x="582425" y="540775"/>
            <a:ext cx="10515601" cy="756521"/>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Clr>
                <a:srgbClr val="000000"/>
              </a:buClr>
              <a:buSzPts val="4000"/>
              <a:buFont typeface="Helvetica Neue"/>
              <a:buNone/>
            </a:pPr>
            <a:r>
              <a:rPr lang="en-US" dirty="0"/>
              <a:t>Introduction</a:t>
            </a:r>
            <a:endParaRPr dirty="0"/>
          </a:p>
        </p:txBody>
      </p:sp>
      <p:sp>
        <p:nvSpPr>
          <p:cNvPr id="116" name="Google Shape;116;p5"/>
          <p:cNvSpPr txBox="1">
            <a:spLocks noGrp="1"/>
          </p:cNvSpPr>
          <p:nvPr>
            <p:ph type="body" idx="1"/>
          </p:nvPr>
        </p:nvSpPr>
        <p:spPr>
          <a:xfrm>
            <a:off x="582426" y="1493647"/>
            <a:ext cx="10515600" cy="4087200"/>
          </a:xfrm>
          <a:prstGeom prst="rect">
            <a:avLst/>
          </a:prstGeom>
          <a:noFill/>
          <a:ln>
            <a:noFill/>
          </a:ln>
        </p:spPr>
        <p:txBody>
          <a:bodyPr spcFirstLastPara="1" wrap="square" lIns="45700" tIns="45700" rIns="45700" bIns="45700" anchor="t" anchorCtr="0">
            <a:noAutofit/>
          </a:bodyPr>
          <a:lstStyle/>
          <a:p>
            <a:pPr marL="457200" lvl="0" indent="-381000" algn="l" rtl="0">
              <a:lnSpc>
                <a:spcPct val="150000"/>
              </a:lnSpc>
              <a:spcBef>
                <a:spcPts val="1000"/>
              </a:spcBef>
              <a:spcAft>
                <a:spcPts val="0"/>
              </a:spcAft>
              <a:buSzPts val="2400"/>
              <a:buChar char="•"/>
            </a:pPr>
            <a:r>
              <a:rPr lang="en-US" sz="2300" dirty="0"/>
              <a:t>Athletic performance is influenced by sleep, training, fatigue, and recovery.</a:t>
            </a:r>
            <a:endParaRPr sz="2300" dirty="0"/>
          </a:p>
          <a:p>
            <a:pPr marL="457200" lvl="0" indent="-381000" algn="l" rtl="0">
              <a:lnSpc>
                <a:spcPct val="150000"/>
              </a:lnSpc>
              <a:spcBef>
                <a:spcPts val="0"/>
              </a:spcBef>
              <a:spcAft>
                <a:spcPts val="0"/>
              </a:spcAft>
              <a:buSzPts val="2400"/>
              <a:buChar char="•"/>
            </a:pPr>
            <a:r>
              <a:rPr lang="en-US" sz="2300" dirty="0"/>
              <a:t>This project predicts athletic readiness using sleep and recovery patterns.</a:t>
            </a:r>
            <a:endParaRPr sz="2300" dirty="0"/>
          </a:p>
          <a:p>
            <a:pPr marL="457200" lvl="0" indent="-381000" algn="l" rtl="0">
              <a:lnSpc>
                <a:spcPct val="150000"/>
              </a:lnSpc>
              <a:spcBef>
                <a:spcPts val="0"/>
              </a:spcBef>
              <a:spcAft>
                <a:spcPts val="0"/>
              </a:spcAft>
              <a:buSzPts val="2400"/>
              <a:buChar char="•"/>
            </a:pPr>
            <a:r>
              <a:rPr lang="en-US" sz="2300" dirty="0"/>
              <a:t>Factors include travel, training, academics, and social commitments.</a:t>
            </a:r>
            <a:endParaRPr sz="2300" dirty="0"/>
          </a:p>
          <a:p>
            <a:pPr marL="457200" lvl="0" indent="-381000" algn="l" rtl="0">
              <a:lnSpc>
                <a:spcPct val="150000"/>
              </a:lnSpc>
              <a:spcBef>
                <a:spcPts val="0"/>
              </a:spcBef>
              <a:spcAft>
                <a:spcPts val="0"/>
              </a:spcAft>
              <a:buSzPts val="2400"/>
              <a:buChar char="•"/>
            </a:pPr>
            <a:r>
              <a:rPr lang="en-US" sz="2300" dirty="0"/>
              <a:t>Previous studies used </a:t>
            </a:r>
            <a:r>
              <a:rPr lang="en-US" sz="2300" dirty="0">
                <a:solidFill>
                  <a:schemeClr val="dk1"/>
                </a:solidFill>
              </a:rPr>
              <a:t>RSI</a:t>
            </a:r>
            <a:r>
              <a:rPr lang="en-US" sz="2300" dirty="0"/>
              <a:t> to predict game performance and readiness </a:t>
            </a:r>
            <a:r>
              <a:rPr lang="en-US" sz="2300" dirty="0">
                <a:solidFill>
                  <a:schemeClr val="dk1"/>
                </a:solidFill>
              </a:rPr>
              <a:t>but it often lacks accuracy in predicting true readiness, especially when external factors like sleep and academic stress are involved.</a:t>
            </a:r>
            <a:endParaRPr sz="2300" dirty="0">
              <a:solidFill>
                <a:schemeClr val="dk1"/>
              </a:solidFill>
            </a:endParaRPr>
          </a:p>
          <a:p>
            <a:pPr marL="457200" lvl="0" indent="-381000" algn="l" rtl="0">
              <a:lnSpc>
                <a:spcPct val="150000"/>
              </a:lnSpc>
              <a:spcBef>
                <a:spcPts val="0"/>
              </a:spcBef>
              <a:spcAft>
                <a:spcPts val="0"/>
              </a:spcAft>
              <a:buSzPts val="2400"/>
              <a:buChar char="•"/>
            </a:pPr>
            <a:r>
              <a:rPr lang="en-US" sz="2300" dirty="0"/>
              <a:t>Insights help athletes and coaches optimize recovery and enhance performance.</a:t>
            </a:r>
            <a:endParaRPr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358eca5d40_0_0"/>
          <p:cNvSpPr txBox="1">
            <a:spLocks noGrp="1"/>
          </p:cNvSpPr>
          <p:nvPr>
            <p:ph type="title"/>
          </p:nvPr>
        </p:nvSpPr>
        <p:spPr>
          <a:xfrm>
            <a:off x="594303" y="266700"/>
            <a:ext cx="10515600" cy="1325700"/>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Clr>
                <a:srgbClr val="000000"/>
              </a:buClr>
              <a:buSzPts val="4000"/>
              <a:buFont typeface="Helvetica Neue"/>
              <a:buNone/>
            </a:pPr>
            <a:r>
              <a:rPr lang="en-US"/>
              <a:t>Problem Statement</a:t>
            </a:r>
            <a:endParaRPr/>
          </a:p>
        </p:txBody>
      </p:sp>
      <p:sp>
        <p:nvSpPr>
          <p:cNvPr id="122" name="Google Shape;122;g3358eca5d40_0_0"/>
          <p:cNvSpPr txBox="1">
            <a:spLocks noGrp="1"/>
          </p:cNvSpPr>
          <p:nvPr>
            <p:ph type="body" idx="1"/>
          </p:nvPr>
        </p:nvSpPr>
        <p:spPr>
          <a:xfrm>
            <a:off x="582425" y="1768950"/>
            <a:ext cx="10515600" cy="4087200"/>
          </a:xfrm>
          <a:prstGeom prst="rect">
            <a:avLst/>
          </a:prstGeom>
          <a:noFill/>
          <a:ln>
            <a:noFill/>
          </a:ln>
        </p:spPr>
        <p:txBody>
          <a:bodyPr spcFirstLastPara="1" wrap="square" lIns="45700" tIns="45700" rIns="45700" bIns="45700" anchor="t" anchorCtr="0">
            <a:normAutofit/>
          </a:bodyPr>
          <a:lstStyle/>
          <a:p>
            <a:pPr marL="228600" lvl="0" indent="-76200" algn="l" rtl="0">
              <a:lnSpc>
                <a:spcPct val="90000"/>
              </a:lnSpc>
              <a:spcBef>
                <a:spcPts val="0"/>
              </a:spcBef>
              <a:spcAft>
                <a:spcPts val="0"/>
              </a:spcAft>
              <a:buClr>
                <a:schemeClr val="dk1"/>
              </a:buClr>
              <a:buSzPts val="1100"/>
              <a:buFont typeface="Arial"/>
              <a:buNone/>
            </a:pPr>
            <a:endParaRPr/>
          </a:p>
          <a:p>
            <a:pPr marL="228600" lvl="0" indent="-76200" algn="l" rtl="0">
              <a:lnSpc>
                <a:spcPct val="90000"/>
              </a:lnSpc>
              <a:spcBef>
                <a:spcPts val="0"/>
              </a:spcBef>
              <a:spcAft>
                <a:spcPts val="0"/>
              </a:spcAft>
              <a:buClr>
                <a:srgbClr val="000000"/>
              </a:buClr>
              <a:buSzPts val="2400"/>
              <a:buFont typeface="Helvetica Neue Light"/>
              <a:buNone/>
            </a:pPr>
            <a:endParaRPr/>
          </a:p>
        </p:txBody>
      </p:sp>
      <p:sp>
        <p:nvSpPr>
          <p:cNvPr id="123" name="Google Shape;123;g3358eca5d40_0_0"/>
          <p:cNvSpPr txBox="1">
            <a:spLocks noGrp="1"/>
          </p:cNvSpPr>
          <p:nvPr>
            <p:ph type="sldNum" idx="12"/>
          </p:nvPr>
        </p:nvSpPr>
        <p:spPr>
          <a:xfrm>
            <a:off x="11164924" y="6338767"/>
            <a:ext cx="189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08080"/>
              </a:buClr>
              <a:buSzPts val="1200"/>
              <a:buFont typeface="Helvetica Neue Light"/>
              <a:buNone/>
            </a:pPr>
            <a:fld id="{00000000-1234-1234-1234-123412341234}" type="slidenum">
              <a:rPr lang="en-US" sz="1200">
                <a:solidFill>
                  <a:srgbClr val="808080"/>
                </a:solidFill>
                <a:latin typeface="Helvetica Neue Light"/>
                <a:ea typeface="Helvetica Neue Light"/>
                <a:cs typeface="Helvetica Neue Light"/>
                <a:sym typeface="Helvetica Neue Light"/>
              </a:rPr>
              <a:t>4</a:t>
            </a:fld>
            <a:endParaRPr/>
          </a:p>
        </p:txBody>
      </p:sp>
      <p:sp>
        <p:nvSpPr>
          <p:cNvPr id="124" name="Google Shape;124;g3358eca5d40_0_0"/>
          <p:cNvSpPr txBox="1"/>
          <p:nvPr/>
        </p:nvSpPr>
        <p:spPr>
          <a:xfrm>
            <a:off x="582425" y="1592400"/>
            <a:ext cx="11315700" cy="55104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0"/>
              </a:spcBef>
              <a:spcAft>
                <a:spcPts val="0"/>
              </a:spcAft>
              <a:buNone/>
            </a:pPr>
            <a:r>
              <a:rPr lang="en-US" sz="2000">
                <a:latin typeface="Helvetica Neue Light"/>
                <a:ea typeface="Helvetica Neue Light"/>
                <a:cs typeface="Helvetica Neue Light"/>
                <a:sym typeface="Helvetica Neue Light"/>
              </a:rPr>
              <a:t>The objective of this project is to assess the impact of athlete sleep patterns on their performance (readiness) and thereby predict RSImod (Reactive Strength Index Modified). RSImod is a readiness measure used in sports science to assess an athlete’s neuromuscular fatigue.</a:t>
            </a:r>
            <a:endParaRPr sz="2000">
              <a:latin typeface="Helvetica Neue Light"/>
              <a:ea typeface="Helvetica Neue Light"/>
              <a:cs typeface="Helvetica Neue Light"/>
              <a:sym typeface="Helvetica Neue Light"/>
            </a:endParaRPr>
          </a:p>
          <a:p>
            <a:pPr marL="0" lvl="0" indent="0" algn="l" rtl="0">
              <a:lnSpc>
                <a:spcPct val="130000"/>
              </a:lnSpc>
              <a:spcBef>
                <a:spcPts val="0"/>
              </a:spcBef>
              <a:spcAft>
                <a:spcPts val="0"/>
              </a:spcAft>
              <a:buNone/>
            </a:pPr>
            <a:endParaRPr sz="2000">
              <a:latin typeface="Helvetica Neue Light"/>
              <a:ea typeface="Helvetica Neue Light"/>
              <a:cs typeface="Helvetica Neue Light"/>
              <a:sym typeface="Helvetica Neue Light"/>
            </a:endParaRPr>
          </a:p>
          <a:p>
            <a:pPr marL="0" lvl="0" indent="0" algn="l" rtl="0">
              <a:lnSpc>
                <a:spcPct val="130000"/>
              </a:lnSpc>
              <a:spcBef>
                <a:spcPts val="0"/>
              </a:spcBef>
              <a:spcAft>
                <a:spcPts val="0"/>
              </a:spcAft>
              <a:buNone/>
            </a:pPr>
            <a:r>
              <a:rPr lang="en-US" sz="2000">
                <a:latin typeface="Helvetica Neue Light"/>
                <a:ea typeface="Helvetica Neue Light"/>
                <a:cs typeface="Helvetica Neue Light"/>
                <a:sym typeface="Helvetica Neue Light"/>
              </a:rPr>
              <a:t>Athletic Readiness &amp; Challenges</a:t>
            </a:r>
            <a:endParaRPr sz="2000">
              <a:latin typeface="Helvetica Neue Light"/>
              <a:ea typeface="Helvetica Neue Light"/>
              <a:cs typeface="Helvetica Neue Light"/>
              <a:sym typeface="Helvetica Neue Light"/>
            </a:endParaRPr>
          </a:p>
          <a:p>
            <a:pPr marL="457200" lvl="0" indent="-355600" algn="l" rtl="0">
              <a:lnSpc>
                <a:spcPct val="130000"/>
              </a:lnSpc>
              <a:spcBef>
                <a:spcPts val="0"/>
              </a:spcBef>
              <a:spcAft>
                <a:spcPts val="0"/>
              </a:spcAft>
              <a:buSzPts val="2000"/>
              <a:buFont typeface="Helvetica Neue Light"/>
              <a:buChar char="●"/>
            </a:pPr>
            <a:r>
              <a:rPr lang="en-US" sz="2000">
                <a:latin typeface="Helvetica Neue Light"/>
                <a:ea typeface="Helvetica Neue Light"/>
                <a:cs typeface="Helvetica Neue Light"/>
                <a:sym typeface="Helvetica Neue Light"/>
              </a:rPr>
              <a:t>Crucial for performance &amp; injury prevention.</a:t>
            </a:r>
            <a:endParaRPr sz="2000">
              <a:latin typeface="Helvetica Neue Light"/>
              <a:ea typeface="Helvetica Neue Light"/>
              <a:cs typeface="Helvetica Neue Light"/>
              <a:sym typeface="Helvetica Neue Light"/>
            </a:endParaRPr>
          </a:p>
          <a:p>
            <a:pPr marL="457200" lvl="0" indent="-355600" algn="l" rtl="0">
              <a:lnSpc>
                <a:spcPct val="130000"/>
              </a:lnSpc>
              <a:spcBef>
                <a:spcPts val="0"/>
              </a:spcBef>
              <a:spcAft>
                <a:spcPts val="0"/>
              </a:spcAft>
              <a:buSzPts val="2000"/>
              <a:buFont typeface="Helvetica Neue Light"/>
              <a:buChar char="●"/>
            </a:pPr>
            <a:r>
              <a:rPr lang="en-US" sz="2000">
                <a:latin typeface="Helvetica Neue Light"/>
                <a:ea typeface="Helvetica Neue Light"/>
                <a:cs typeface="Helvetica Neue Light"/>
                <a:sym typeface="Helvetica Neue Light"/>
              </a:rPr>
              <a:t>Traditional assessments(RSI) lack accuracy in predicting readiness.</a:t>
            </a:r>
            <a:endParaRPr sz="2000">
              <a:latin typeface="Helvetica Neue Light"/>
              <a:ea typeface="Helvetica Neue Light"/>
              <a:cs typeface="Helvetica Neue Light"/>
              <a:sym typeface="Helvetica Neue Light"/>
            </a:endParaRPr>
          </a:p>
          <a:p>
            <a:pPr marL="0" lvl="0" indent="0" algn="l" rtl="0">
              <a:lnSpc>
                <a:spcPct val="130000"/>
              </a:lnSpc>
              <a:spcBef>
                <a:spcPts val="0"/>
              </a:spcBef>
              <a:spcAft>
                <a:spcPts val="0"/>
              </a:spcAft>
              <a:buNone/>
            </a:pPr>
            <a:endParaRPr sz="2000">
              <a:latin typeface="Helvetica Neue Light"/>
              <a:ea typeface="Helvetica Neue Light"/>
              <a:cs typeface="Helvetica Neue Light"/>
              <a:sym typeface="Helvetica Neue Light"/>
            </a:endParaRPr>
          </a:p>
          <a:p>
            <a:pPr marL="0" lvl="0" indent="0" algn="l" rtl="0">
              <a:lnSpc>
                <a:spcPct val="130000"/>
              </a:lnSpc>
              <a:spcBef>
                <a:spcPts val="0"/>
              </a:spcBef>
              <a:spcAft>
                <a:spcPts val="0"/>
              </a:spcAft>
              <a:buNone/>
            </a:pPr>
            <a:r>
              <a:rPr lang="en-US" sz="2000">
                <a:latin typeface="Helvetica Neue Light"/>
                <a:ea typeface="Helvetica Neue Light"/>
                <a:cs typeface="Helvetica Neue Light"/>
                <a:sym typeface="Helvetica Neue Light"/>
              </a:rPr>
              <a:t>Collegiate basketball players experience fatigue due to:</a:t>
            </a:r>
            <a:endParaRPr sz="2000">
              <a:latin typeface="Helvetica Neue Light"/>
              <a:ea typeface="Helvetica Neue Light"/>
              <a:cs typeface="Helvetica Neue Light"/>
              <a:sym typeface="Helvetica Neue Light"/>
            </a:endParaRPr>
          </a:p>
          <a:p>
            <a:pPr marL="457200" lvl="0" indent="-355600" algn="l" rtl="0">
              <a:lnSpc>
                <a:spcPct val="130000"/>
              </a:lnSpc>
              <a:spcBef>
                <a:spcPts val="0"/>
              </a:spcBef>
              <a:spcAft>
                <a:spcPts val="0"/>
              </a:spcAft>
              <a:buSzPts val="2000"/>
              <a:buFont typeface="Helvetica Neue Light"/>
              <a:buChar char="●"/>
            </a:pPr>
            <a:r>
              <a:rPr lang="en-US" sz="2000">
                <a:latin typeface="Helvetica Neue Light"/>
                <a:ea typeface="Helvetica Neue Light"/>
                <a:cs typeface="Helvetica Neue Light"/>
                <a:sym typeface="Helvetica Neue Light"/>
              </a:rPr>
              <a:t>Frequent games &amp; travel.</a:t>
            </a:r>
            <a:endParaRPr sz="2000">
              <a:latin typeface="Helvetica Neue Light"/>
              <a:ea typeface="Helvetica Neue Light"/>
              <a:cs typeface="Helvetica Neue Light"/>
              <a:sym typeface="Helvetica Neue Light"/>
            </a:endParaRPr>
          </a:p>
          <a:p>
            <a:pPr marL="457200" lvl="0" indent="-355600" algn="l" rtl="0">
              <a:lnSpc>
                <a:spcPct val="130000"/>
              </a:lnSpc>
              <a:spcBef>
                <a:spcPts val="0"/>
              </a:spcBef>
              <a:spcAft>
                <a:spcPts val="0"/>
              </a:spcAft>
              <a:buSzPts val="2000"/>
              <a:buFont typeface="Helvetica Neue Light"/>
              <a:buChar char="●"/>
            </a:pPr>
            <a:r>
              <a:rPr lang="en-US" sz="2000">
                <a:latin typeface="Helvetica Neue Light"/>
                <a:ea typeface="Helvetica Neue Light"/>
                <a:cs typeface="Helvetica Neue Light"/>
                <a:sym typeface="Helvetica Neue Light"/>
              </a:rPr>
              <a:t>Academic stress affecting sleep &amp; recovery.</a:t>
            </a:r>
            <a:endParaRPr sz="2000">
              <a:latin typeface="Helvetica Neue Light"/>
              <a:ea typeface="Helvetica Neue Light"/>
              <a:cs typeface="Helvetica Neue Light"/>
              <a:sym typeface="Helvetica Neue Light"/>
            </a:endParaRPr>
          </a:p>
          <a:p>
            <a:pPr marL="0" lvl="0" indent="0" algn="l" rtl="0">
              <a:spcBef>
                <a:spcPts val="0"/>
              </a:spcBef>
              <a:spcAft>
                <a:spcPts val="0"/>
              </a:spcAft>
              <a:buNone/>
            </a:pPr>
            <a:endParaRPr sz="2000">
              <a:latin typeface="Helvetica Neue Light"/>
              <a:ea typeface="Helvetica Neue Light"/>
              <a:cs typeface="Helvetica Neue Light"/>
              <a:sym typeface="Helvetica Neue Light"/>
            </a:endParaRPr>
          </a:p>
          <a:p>
            <a:pPr marL="457200" lvl="0" indent="0" algn="l" rtl="0">
              <a:spcBef>
                <a:spcPts val="0"/>
              </a:spcBef>
              <a:spcAft>
                <a:spcPts val="0"/>
              </a:spcAft>
              <a:buNone/>
            </a:pPr>
            <a:endParaRPr sz="2000">
              <a:latin typeface="Helvetica Neue Light"/>
              <a:ea typeface="Helvetica Neue Light"/>
              <a:cs typeface="Helvetica Neue Light"/>
              <a:sym typeface="Helvetica Neue Light"/>
            </a:endParaRPr>
          </a:p>
          <a:p>
            <a:pPr marL="0" lvl="0" indent="0" algn="l" rtl="0">
              <a:spcBef>
                <a:spcPts val="0"/>
              </a:spcBef>
              <a:spcAft>
                <a:spcPts val="0"/>
              </a:spcAft>
              <a:buNone/>
            </a:pPr>
            <a:endParaRPr sz="2000">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7"/>
          <p:cNvSpPr txBox="1">
            <a:spLocks noGrp="1"/>
          </p:cNvSpPr>
          <p:nvPr>
            <p:ph type="title"/>
          </p:nvPr>
        </p:nvSpPr>
        <p:spPr>
          <a:xfrm>
            <a:off x="594300" y="266700"/>
            <a:ext cx="10515600" cy="269100"/>
          </a:xfrm>
          <a:prstGeom prst="rect">
            <a:avLst/>
          </a:prstGeom>
          <a:noFill/>
          <a:ln>
            <a:noFill/>
          </a:ln>
        </p:spPr>
        <p:txBody>
          <a:bodyPr spcFirstLastPara="1" wrap="square" lIns="45700" tIns="45700" rIns="45700" bIns="45700" anchor="b" anchorCtr="0">
            <a:noAutofit/>
          </a:bodyPr>
          <a:lstStyle/>
          <a:p>
            <a:pPr marL="0" lvl="0" indent="0" algn="ctr" rtl="0">
              <a:lnSpc>
                <a:spcPct val="90000"/>
              </a:lnSpc>
              <a:spcBef>
                <a:spcPts val="0"/>
              </a:spcBef>
              <a:spcAft>
                <a:spcPts val="0"/>
              </a:spcAft>
              <a:buClr>
                <a:srgbClr val="000000"/>
              </a:buClr>
              <a:buSzPts val="4000"/>
              <a:buFont typeface="Helvetica Neue"/>
              <a:buNone/>
            </a:pPr>
            <a:r>
              <a:rPr lang="en-US" sz="3200"/>
              <a:t>Literature Survey</a:t>
            </a:r>
            <a:endParaRPr sz="3200"/>
          </a:p>
        </p:txBody>
      </p:sp>
      <p:graphicFrame>
        <p:nvGraphicFramePr>
          <p:cNvPr id="130" name="Google Shape;130;p7"/>
          <p:cNvGraphicFramePr/>
          <p:nvPr/>
        </p:nvGraphicFramePr>
        <p:xfrm>
          <a:off x="307063" y="535800"/>
          <a:ext cx="11577875" cy="5444561"/>
        </p:xfrm>
        <a:graphic>
          <a:graphicData uri="http://schemas.openxmlformats.org/drawingml/2006/table">
            <a:tbl>
              <a:tblPr>
                <a:noFill/>
                <a:tableStyleId>{354252EE-09FB-4110-B3B1-24AD7A4449AA}</a:tableStyleId>
              </a:tblPr>
              <a:tblGrid>
                <a:gridCol w="2351450">
                  <a:extLst>
                    <a:ext uri="{9D8B030D-6E8A-4147-A177-3AD203B41FA5}">
                      <a16:colId xmlns:a16="http://schemas.microsoft.com/office/drawing/2014/main" val="20000"/>
                    </a:ext>
                  </a:extLst>
                </a:gridCol>
                <a:gridCol w="1016250">
                  <a:extLst>
                    <a:ext uri="{9D8B030D-6E8A-4147-A177-3AD203B41FA5}">
                      <a16:colId xmlns:a16="http://schemas.microsoft.com/office/drawing/2014/main" val="20001"/>
                    </a:ext>
                  </a:extLst>
                </a:gridCol>
                <a:gridCol w="655250">
                  <a:extLst>
                    <a:ext uri="{9D8B030D-6E8A-4147-A177-3AD203B41FA5}">
                      <a16:colId xmlns:a16="http://schemas.microsoft.com/office/drawing/2014/main" val="20002"/>
                    </a:ext>
                  </a:extLst>
                </a:gridCol>
                <a:gridCol w="4409700">
                  <a:extLst>
                    <a:ext uri="{9D8B030D-6E8A-4147-A177-3AD203B41FA5}">
                      <a16:colId xmlns:a16="http://schemas.microsoft.com/office/drawing/2014/main" val="20003"/>
                    </a:ext>
                  </a:extLst>
                </a:gridCol>
                <a:gridCol w="3145225">
                  <a:extLst>
                    <a:ext uri="{9D8B030D-6E8A-4147-A177-3AD203B41FA5}">
                      <a16:colId xmlns:a16="http://schemas.microsoft.com/office/drawing/2014/main" val="20004"/>
                    </a:ext>
                  </a:extLst>
                </a:gridCol>
              </a:tblGrid>
              <a:tr h="377200">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latin typeface="Helvetica Neue"/>
                          <a:ea typeface="Helvetica Neue"/>
                          <a:cs typeface="Helvetica Neue"/>
                          <a:sym typeface="Helvetica Neue"/>
                        </a:rPr>
                        <a:t>Study Title</a:t>
                      </a:r>
                      <a:endParaRPr sz="1400" b="1"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latin typeface="Helvetica Neue"/>
                          <a:ea typeface="Helvetica Neue"/>
                          <a:cs typeface="Helvetica Neue"/>
                          <a:sym typeface="Helvetica Neue"/>
                        </a:rPr>
                        <a:t>Authors</a:t>
                      </a:r>
                      <a:endParaRPr sz="1400" b="1"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latin typeface="Helvetica Neue"/>
                          <a:ea typeface="Helvetica Neue"/>
                          <a:cs typeface="Helvetica Neue"/>
                          <a:sym typeface="Helvetica Neue"/>
                        </a:rPr>
                        <a:t>Year</a:t>
                      </a:r>
                      <a:endParaRPr sz="1400" b="1"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latin typeface="Helvetica Neue"/>
                          <a:ea typeface="Helvetica Neue"/>
                          <a:cs typeface="Helvetica Neue"/>
                          <a:sym typeface="Helvetica Neue"/>
                        </a:rPr>
                        <a:t>Methodology</a:t>
                      </a:r>
                      <a:endParaRPr sz="1400" b="1"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latin typeface="Helvetica Neue"/>
                          <a:ea typeface="Helvetica Neue"/>
                          <a:cs typeface="Helvetica Neue"/>
                          <a:sym typeface="Helvetica Neue"/>
                        </a:rPr>
                        <a:t>Main Findings</a:t>
                      </a:r>
                      <a:endParaRPr sz="1400" b="1"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727300">
                <a:tc>
                  <a:txBody>
                    <a:bodyPr/>
                    <a:lstStyle/>
                    <a:p>
                      <a:pPr marL="0" marR="0" lvl="0" indent="0" algn="l" rtl="0">
                        <a:lnSpc>
                          <a:spcPct val="100000"/>
                        </a:lnSpc>
                        <a:spcBef>
                          <a:spcPts val="0"/>
                        </a:spcBef>
                        <a:spcAft>
                          <a:spcPts val="0"/>
                        </a:spcAft>
                        <a:buClr>
                          <a:schemeClr val="dk1"/>
                        </a:buClr>
                        <a:buSzPts val="1100"/>
                        <a:buFont typeface="Arial"/>
                        <a:buNone/>
                      </a:pPr>
                      <a:r>
                        <a:rPr lang="en-US" sz="1400" u="none" strike="noStrike" cap="none">
                          <a:latin typeface="Helvetica Neue"/>
                          <a:ea typeface="Helvetica Neue"/>
                          <a:cs typeface="Helvetica Neue"/>
                          <a:sym typeface="Helvetica Neue"/>
                        </a:rPr>
                        <a:t>Impact of Sleep and Training on Game Performance and Injury in Division-1 Women’s Basketball Amidst</a:t>
                      </a:r>
                      <a:endParaRPr sz="1400" u="none" strike="noStrike" cap="none">
                        <a:latin typeface="Helvetica Neue"/>
                        <a:ea typeface="Helvetica Neue"/>
                        <a:cs typeface="Helvetica Neue"/>
                        <a:sym typeface="Helvetica Neue"/>
                      </a:endParaRPr>
                    </a:p>
                    <a:p>
                      <a:pPr marL="0" marR="0" lvl="0" indent="0" algn="l" rtl="0">
                        <a:lnSpc>
                          <a:spcPct val="100000"/>
                        </a:lnSpc>
                        <a:spcBef>
                          <a:spcPts val="0"/>
                        </a:spcBef>
                        <a:spcAft>
                          <a:spcPts val="0"/>
                        </a:spcAft>
                        <a:buClr>
                          <a:schemeClr val="dk1"/>
                        </a:buClr>
                        <a:buSzPts val="1100"/>
                        <a:buFont typeface="Arial"/>
                        <a:buNone/>
                      </a:pPr>
                      <a:r>
                        <a:rPr lang="en-US" sz="1400" u="none" strike="noStrike" cap="none">
                          <a:latin typeface="Helvetica Neue"/>
                          <a:ea typeface="Helvetica Neue"/>
                          <a:cs typeface="Helvetica Neue"/>
                          <a:sym typeface="Helvetica Neue"/>
                        </a:rPr>
                        <a:t>the Pandemic [1]</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S Senbel et al.</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2022</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Collect sleep data of athletes using sleep monitoring devices, training data from coaches, injury</a:t>
                      </a:r>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reports from medical staff, and weekly survey data from athletes for 22 weeks. Predict game performance and injuries using machine learning algorithms.</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Game performance and injuries can be predicted with more than 90% accuracy. The F1 and F2 scores of 0.94 and 0.83 for game performance and injuries, respectively, show that one can use the prediction for informative analysis in the future for coaches to make insightful decisions.</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595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A holistic approach to performance prediction in collegiate athletics: player, team, and conference perspectives [2]</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T Kaya et al.</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2024</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Monitor players and collect data. The data includes parameters from training, subjective stress, sleep and recovery, in-game statistics, and countermovement jumps. Predict RSI (reactive strength index) and GS(Game Score) using machine learning algorithms.</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Achieved 90% accuracy and 0.9 F1 score in predicting RSI and GS by using data balancing techniques and an Extreme Gradient Boosting (XGB) classifier score. The XGB regressor predicted player efficiency rating with an MSE of 0.026 and an </a:t>
                      </a:r>
                      <a:r>
                        <a:rPr lang="en-US" sz="1100">
                          <a:solidFill>
                            <a:schemeClr val="dk1"/>
                          </a:solidFill>
                        </a:rPr>
                        <a:t>R</a:t>
                      </a:r>
                      <a:r>
                        <a:rPr lang="en-US" sz="1100" baseline="30000">
                          <a:solidFill>
                            <a:schemeClr val="dk1"/>
                          </a:solidFill>
                        </a:rPr>
                        <a:t>2</a:t>
                      </a:r>
                      <a:r>
                        <a:rPr lang="en-US" sz="1400" u="none" strike="noStrike" cap="none">
                          <a:latin typeface="Helvetica Neue"/>
                          <a:ea typeface="Helvetica Neue"/>
                          <a:cs typeface="Helvetica Neue"/>
                          <a:sym typeface="Helvetica Neue"/>
                        </a:rPr>
                        <a:t> of 0.680. </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865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A Hybrid Approach for Interpretable Game Performance Prediction in Basketball [</a:t>
                      </a:r>
                      <a:r>
                        <a:rPr lang="en-US">
                          <a:latin typeface="Helvetica Neue"/>
                          <a:ea typeface="Helvetica Neue"/>
                          <a:cs typeface="Helvetica Neue"/>
                          <a:sym typeface="Helvetica Neue"/>
                        </a:rPr>
                        <a:t>3</a:t>
                      </a:r>
                      <a:r>
                        <a:rPr lang="en-US" sz="1400" u="none" strike="noStrike" cap="none">
                          <a:latin typeface="Helvetica Neue"/>
                          <a:ea typeface="Helvetica Neue"/>
                          <a:cs typeface="Helvetica Neue"/>
                          <a:sym typeface="Helvetica Neue"/>
                        </a:rPr>
                        <a:t>]</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SU Sharma et al. </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Helvetica Neue"/>
                          <a:ea typeface="Helvetica Neue"/>
                          <a:cs typeface="Helvetica Neue"/>
                          <a:sym typeface="Helvetica Neue"/>
                        </a:rPr>
                        <a:t>2022</a:t>
                      </a:r>
                      <a:endParaRPr sz="1400" u="none" strike="noStrike" cap="none">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Helvetica Neue"/>
                          <a:ea typeface="Helvetica Neue"/>
                          <a:cs typeface="Helvetica Neue"/>
                          <a:sym typeface="Helvetica Neue"/>
                        </a:rPr>
                        <a:t>Perform factor analysis to compactly characterize the athlete’s data in terms of 7 latent factors. Use these factors to build a collection of decision trees for predicting and interpreting the game score.</a:t>
                      </a:r>
                      <a:endParaRPr>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Helvetica Neue"/>
                          <a:ea typeface="Helvetica Neue"/>
                          <a:cs typeface="Helvetica Neue"/>
                          <a:sym typeface="Helvetica Neue"/>
                        </a:rPr>
                        <a:t>Achieved an MSE of 0.013 and an </a:t>
                      </a:r>
                      <a:r>
                        <a:rPr lang="en-US">
                          <a:solidFill>
                            <a:schemeClr val="dk1"/>
                          </a:solidFill>
                        </a:rPr>
                        <a:t>R</a:t>
                      </a:r>
                      <a:r>
                        <a:rPr lang="en-US" baseline="30000">
                          <a:solidFill>
                            <a:schemeClr val="dk1"/>
                          </a:solidFill>
                        </a:rPr>
                        <a:t>2</a:t>
                      </a:r>
                      <a:r>
                        <a:rPr lang="en-US">
                          <a:solidFill>
                            <a:schemeClr val="dk1"/>
                          </a:solidFill>
                        </a:rPr>
                        <a:t>  score of 0.971.</a:t>
                      </a:r>
                      <a:endParaRPr>
                        <a:latin typeface="Helvetica Neue"/>
                        <a:ea typeface="Helvetica Neue"/>
                        <a:cs typeface="Helvetica Neue"/>
                        <a:sym typeface="Helvetica Neue"/>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2c3ff8a06be_0_5"/>
          <p:cNvSpPr txBox="1">
            <a:spLocks noGrp="1"/>
          </p:cNvSpPr>
          <p:nvPr>
            <p:ph type="title"/>
          </p:nvPr>
        </p:nvSpPr>
        <p:spPr>
          <a:xfrm>
            <a:off x="594303" y="266700"/>
            <a:ext cx="10515600" cy="1325700"/>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SzPts val="4000"/>
              <a:buNone/>
            </a:pPr>
            <a:r>
              <a:rPr lang="en-US"/>
              <a:t>Dataset Discussion</a:t>
            </a:r>
            <a:endParaRPr/>
          </a:p>
        </p:txBody>
      </p:sp>
      <p:sp>
        <p:nvSpPr>
          <p:cNvPr id="136" name="Google Shape;136;g2c3ff8a06be_0_5"/>
          <p:cNvSpPr txBox="1"/>
          <p:nvPr/>
        </p:nvSpPr>
        <p:spPr>
          <a:xfrm>
            <a:off x="721275" y="1983525"/>
            <a:ext cx="10051500" cy="38379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0"/>
              </a:spcBef>
              <a:spcAft>
                <a:spcPts val="0"/>
              </a:spcAft>
              <a:buSzPts val="2000"/>
              <a:buFont typeface="Helvetica Neue Light"/>
              <a:buChar char="●"/>
            </a:pPr>
            <a:r>
              <a:rPr lang="en-US" sz="2000">
                <a:latin typeface="Helvetica Neue Light"/>
                <a:ea typeface="Helvetica Neue Light"/>
                <a:cs typeface="Helvetica Neue Light"/>
                <a:sym typeface="Helvetica Neue Light"/>
              </a:rPr>
              <a:t>The dataset contains 3,111 records with 28 attributes related to athlete health and performance.</a:t>
            </a:r>
            <a:endParaRPr sz="2000">
              <a:latin typeface="Helvetica Neue Light"/>
              <a:ea typeface="Helvetica Neue Light"/>
              <a:cs typeface="Helvetica Neue Light"/>
              <a:sym typeface="Helvetica Neue Light"/>
            </a:endParaRPr>
          </a:p>
          <a:p>
            <a:pPr marL="457200" lvl="0" indent="-355600" algn="l" rtl="0">
              <a:lnSpc>
                <a:spcPct val="115000"/>
              </a:lnSpc>
              <a:spcBef>
                <a:spcPts val="1000"/>
              </a:spcBef>
              <a:spcAft>
                <a:spcPts val="0"/>
              </a:spcAft>
              <a:buSzPts val="2000"/>
              <a:buFont typeface="Helvetica Neue Light"/>
              <a:buChar char="●"/>
            </a:pPr>
            <a:r>
              <a:rPr lang="en-US" sz="2000">
                <a:solidFill>
                  <a:schemeClr val="dk1"/>
                </a:solidFill>
                <a:latin typeface="Helvetica Neue Light"/>
                <a:ea typeface="Helvetica Neue Light"/>
                <a:cs typeface="Helvetica Neue Light"/>
                <a:sym typeface="Helvetica Neue Light"/>
              </a:rPr>
              <a:t>The dataset contains biometric data of athletes which includes resting heart rate (RHR), heart rate variability (HRV), sleep quality, recovery metrics, respiratory rate and reactive strength index (RSI).</a:t>
            </a:r>
            <a:endParaRPr sz="2000">
              <a:solidFill>
                <a:schemeClr val="dk1"/>
              </a:solidFill>
              <a:latin typeface="Helvetica Neue Light"/>
              <a:ea typeface="Helvetica Neue Light"/>
              <a:cs typeface="Helvetica Neue Light"/>
              <a:sym typeface="Helvetica Neue Light"/>
            </a:endParaRPr>
          </a:p>
          <a:p>
            <a:pPr marL="457200" lvl="0" indent="-355600" algn="l" rtl="0">
              <a:lnSpc>
                <a:spcPct val="115000"/>
              </a:lnSpc>
              <a:spcBef>
                <a:spcPts val="1000"/>
              </a:spcBef>
              <a:spcAft>
                <a:spcPts val="0"/>
              </a:spcAft>
              <a:buClr>
                <a:schemeClr val="dk1"/>
              </a:buClr>
              <a:buSzPts val="2000"/>
              <a:buFont typeface="Helvetica Neue Light"/>
              <a:buChar char="●"/>
            </a:pPr>
            <a:r>
              <a:rPr lang="en-US" sz="2000">
                <a:solidFill>
                  <a:schemeClr val="dk1"/>
                </a:solidFill>
                <a:latin typeface="Helvetica Neue Light"/>
                <a:ea typeface="Helvetica Neue Light"/>
                <a:cs typeface="Helvetica Neue Light"/>
                <a:sym typeface="Helvetica Neue Light"/>
              </a:rPr>
              <a:t>Data is recorded for 17 athletes.</a:t>
            </a:r>
            <a:endParaRPr sz="2000">
              <a:solidFill>
                <a:schemeClr val="dk1"/>
              </a:solidFill>
              <a:latin typeface="Helvetica Neue Light"/>
              <a:ea typeface="Helvetica Neue Light"/>
              <a:cs typeface="Helvetica Neue Light"/>
              <a:sym typeface="Helvetica Neue Light"/>
            </a:endParaRPr>
          </a:p>
          <a:p>
            <a:pPr marL="457200" lvl="0" indent="-355600" algn="l" rtl="0">
              <a:lnSpc>
                <a:spcPct val="115000"/>
              </a:lnSpc>
              <a:spcBef>
                <a:spcPts val="1000"/>
              </a:spcBef>
              <a:spcAft>
                <a:spcPts val="0"/>
              </a:spcAft>
              <a:buClr>
                <a:schemeClr val="dk1"/>
              </a:buClr>
              <a:buSzPts val="2000"/>
              <a:buFont typeface="Helvetica Neue Light"/>
              <a:buChar char="●"/>
            </a:pPr>
            <a:r>
              <a:rPr lang="en-US" sz="2000">
                <a:solidFill>
                  <a:schemeClr val="dk1"/>
                </a:solidFill>
                <a:latin typeface="Helvetica Neue Light"/>
                <a:ea typeface="Helvetica Neue Light"/>
                <a:cs typeface="Helvetica Neue Light"/>
                <a:sym typeface="Helvetica Neue Light"/>
              </a:rPr>
              <a:t>The data for all the athletes was recorded daily from 6 September 2021 to 7 March 2022, spanning approximately six months.</a:t>
            </a:r>
            <a:endParaRPr sz="2000">
              <a:latin typeface="Helvetica Neue Light"/>
              <a:ea typeface="Helvetica Neue Light"/>
              <a:cs typeface="Helvetica Neue Light"/>
              <a:sym typeface="Helvetica Neue Light"/>
            </a:endParaRPr>
          </a:p>
          <a:p>
            <a:pPr marL="457200" lvl="0" indent="-355600" algn="l" rtl="0">
              <a:lnSpc>
                <a:spcPct val="115000"/>
              </a:lnSpc>
              <a:spcBef>
                <a:spcPts val="1000"/>
              </a:spcBef>
              <a:spcAft>
                <a:spcPts val="1000"/>
              </a:spcAft>
              <a:buSzPts val="2000"/>
              <a:buFont typeface="Helvetica Neue Light"/>
              <a:buChar char="●"/>
            </a:pPr>
            <a:r>
              <a:rPr lang="en-US" sz="2000">
                <a:latin typeface="Helvetica Neue Light"/>
                <a:ea typeface="Helvetica Neue Light"/>
                <a:cs typeface="Helvetica Neue Light"/>
                <a:sym typeface="Helvetica Neue Light"/>
              </a:rPr>
              <a:t>There were some missing values in the dataset, which required data preprocessing.</a:t>
            </a:r>
            <a:endParaRPr sz="2000">
              <a:latin typeface="Helvetica Neue Light"/>
              <a:ea typeface="Helvetica Neue Light"/>
              <a:cs typeface="Helvetica Neue Light"/>
              <a:sym typeface="Helvetica Neue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3407af7eea2_0_20"/>
          <p:cNvSpPr txBox="1">
            <a:spLocks noGrp="1"/>
          </p:cNvSpPr>
          <p:nvPr>
            <p:ph type="title"/>
          </p:nvPr>
        </p:nvSpPr>
        <p:spPr>
          <a:xfrm>
            <a:off x="594300" y="73025"/>
            <a:ext cx="10515600" cy="593400"/>
          </a:xfrm>
          <a:prstGeom prst="rect">
            <a:avLst/>
          </a:prstGeom>
          <a:noFill/>
          <a:ln>
            <a:noFill/>
          </a:ln>
        </p:spPr>
        <p:txBody>
          <a:bodyPr spcFirstLastPara="1" wrap="square" lIns="45700" tIns="45700" rIns="45700" bIns="45700" anchor="b" anchorCtr="0">
            <a:normAutofit fontScale="90000"/>
          </a:bodyPr>
          <a:lstStyle/>
          <a:p>
            <a:pPr marL="0" lvl="0" indent="0" algn="l" rtl="0">
              <a:lnSpc>
                <a:spcPct val="90000"/>
              </a:lnSpc>
              <a:spcBef>
                <a:spcPts val="0"/>
              </a:spcBef>
              <a:spcAft>
                <a:spcPts val="0"/>
              </a:spcAft>
              <a:buSzPct val="100000"/>
              <a:buNone/>
            </a:pPr>
            <a:r>
              <a:rPr lang="en-US"/>
              <a:t>Dataset Discussion</a:t>
            </a:r>
            <a:endParaRPr/>
          </a:p>
        </p:txBody>
      </p:sp>
      <p:graphicFrame>
        <p:nvGraphicFramePr>
          <p:cNvPr id="142" name="Google Shape;142;g3407af7eea2_0_20"/>
          <p:cNvGraphicFramePr/>
          <p:nvPr/>
        </p:nvGraphicFramePr>
        <p:xfrm>
          <a:off x="1788050" y="716600"/>
          <a:ext cx="3000000" cy="3000000"/>
        </p:xfrm>
        <a:graphic>
          <a:graphicData uri="http://schemas.openxmlformats.org/drawingml/2006/table">
            <a:tbl>
              <a:tblPr>
                <a:noFill/>
                <a:tableStyleId>{EE692E04-22D4-428F-9DFE-49AED598DD16}</a:tableStyleId>
              </a:tblPr>
              <a:tblGrid>
                <a:gridCol w="2101775">
                  <a:extLst>
                    <a:ext uri="{9D8B030D-6E8A-4147-A177-3AD203B41FA5}">
                      <a16:colId xmlns:a16="http://schemas.microsoft.com/office/drawing/2014/main" val="20000"/>
                    </a:ext>
                  </a:extLst>
                </a:gridCol>
                <a:gridCol w="2101775">
                  <a:extLst>
                    <a:ext uri="{9D8B030D-6E8A-4147-A177-3AD203B41FA5}">
                      <a16:colId xmlns:a16="http://schemas.microsoft.com/office/drawing/2014/main" val="20001"/>
                    </a:ext>
                  </a:extLst>
                </a:gridCol>
              </a:tblGrid>
              <a:tr h="366625">
                <a:tc>
                  <a:txBody>
                    <a:bodyPr/>
                    <a:lstStyle/>
                    <a:p>
                      <a:pPr marL="0" lvl="0" indent="0" algn="l" rtl="0">
                        <a:spcBef>
                          <a:spcPts val="0"/>
                        </a:spcBef>
                        <a:spcAft>
                          <a:spcPts val="0"/>
                        </a:spcAft>
                        <a:buNone/>
                      </a:pPr>
                      <a:r>
                        <a:rPr lang="en-US" sz="1100"/>
                        <a:t>Column</a:t>
                      </a:r>
                      <a:endParaRPr sz="1100"/>
                    </a:p>
                  </a:txBody>
                  <a:tcPr marL="91425" marR="91425" marT="91425" marB="91425"/>
                </a:tc>
                <a:tc>
                  <a:txBody>
                    <a:bodyPr/>
                    <a:lstStyle/>
                    <a:p>
                      <a:pPr marL="0" lvl="0" indent="0" algn="l" rtl="0">
                        <a:spcBef>
                          <a:spcPts val="0"/>
                        </a:spcBef>
                        <a:spcAft>
                          <a:spcPts val="0"/>
                        </a:spcAft>
                        <a:buNone/>
                      </a:pPr>
                      <a:r>
                        <a:rPr lang="en-US" sz="1100"/>
                        <a:t>Null Value Count</a:t>
                      </a:r>
                      <a:endParaRPr sz="1100"/>
                    </a:p>
                  </a:txBody>
                  <a:tcPr marL="91425" marR="91425" marT="91425" marB="91425"/>
                </a:tc>
                <a:extLst>
                  <a:ext uri="{0D108BD9-81ED-4DB2-BD59-A6C34878D82A}">
                    <a16:rowId xmlns:a16="http://schemas.microsoft.com/office/drawing/2014/main" val="10000"/>
                  </a:ext>
                </a:extLst>
              </a:tr>
              <a:tr h="366625">
                <a:tc>
                  <a:txBody>
                    <a:bodyPr/>
                    <a:lstStyle/>
                    <a:p>
                      <a:pPr marL="0" lvl="0" indent="0" algn="l" rtl="0">
                        <a:spcBef>
                          <a:spcPts val="0"/>
                        </a:spcBef>
                        <a:spcAft>
                          <a:spcPts val="0"/>
                        </a:spcAft>
                        <a:buNone/>
                      </a:pPr>
                      <a:r>
                        <a:rPr lang="en-US" sz="1100"/>
                        <a:t>Athlete</a:t>
                      </a:r>
                      <a:endParaRPr sz="1100"/>
                    </a:p>
                  </a:txBody>
                  <a:tcPr marL="91425" marR="91425" marT="91425" marB="91425"/>
                </a:tc>
                <a:tc>
                  <a:txBody>
                    <a:bodyPr/>
                    <a:lstStyle/>
                    <a:p>
                      <a:pPr marL="0" lvl="0" indent="0" algn="l" rtl="0">
                        <a:spcBef>
                          <a:spcPts val="0"/>
                        </a:spcBef>
                        <a:spcAft>
                          <a:spcPts val="0"/>
                        </a:spcAft>
                        <a:buNone/>
                      </a:pPr>
                      <a:r>
                        <a:rPr lang="en-US" sz="1100"/>
                        <a:t>0</a:t>
                      </a:r>
                      <a:endParaRPr sz="1100"/>
                    </a:p>
                  </a:txBody>
                  <a:tcPr marL="91425" marR="91425" marT="91425" marB="91425"/>
                </a:tc>
                <a:extLst>
                  <a:ext uri="{0D108BD9-81ED-4DB2-BD59-A6C34878D82A}">
                    <a16:rowId xmlns:a16="http://schemas.microsoft.com/office/drawing/2014/main" val="10001"/>
                  </a:ext>
                </a:extLst>
              </a:tr>
              <a:tr h="366625">
                <a:tc>
                  <a:txBody>
                    <a:bodyPr/>
                    <a:lstStyle/>
                    <a:p>
                      <a:pPr marL="0" lvl="0" indent="0" algn="l" rtl="0">
                        <a:spcBef>
                          <a:spcPts val="0"/>
                        </a:spcBef>
                        <a:spcAft>
                          <a:spcPts val="0"/>
                        </a:spcAft>
                        <a:buNone/>
                      </a:pPr>
                      <a:r>
                        <a:rPr lang="en-US" sz="1100"/>
                        <a:t>Date</a:t>
                      </a:r>
                      <a:endParaRPr sz="1100"/>
                    </a:p>
                  </a:txBody>
                  <a:tcPr marL="91425" marR="91425" marT="91425" marB="91425"/>
                </a:tc>
                <a:tc>
                  <a:txBody>
                    <a:bodyPr/>
                    <a:lstStyle/>
                    <a:p>
                      <a:pPr marL="0" lvl="0" indent="0" algn="l" rtl="0">
                        <a:spcBef>
                          <a:spcPts val="0"/>
                        </a:spcBef>
                        <a:spcAft>
                          <a:spcPts val="0"/>
                        </a:spcAft>
                        <a:buNone/>
                      </a:pPr>
                      <a:r>
                        <a:rPr lang="en-US" sz="1100"/>
                        <a:t>0</a:t>
                      </a:r>
                      <a:endParaRPr sz="1100"/>
                    </a:p>
                  </a:txBody>
                  <a:tcPr marL="91425" marR="91425" marT="91425" marB="91425"/>
                </a:tc>
                <a:extLst>
                  <a:ext uri="{0D108BD9-81ED-4DB2-BD59-A6C34878D82A}">
                    <a16:rowId xmlns:a16="http://schemas.microsoft.com/office/drawing/2014/main" val="10002"/>
                  </a:ext>
                </a:extLst>
              </a:tr>
              <a:tr h="366625">
                <a:tc>
                  <a:txBody>
                    <a:bodyPr/>
                    <a:lstStyle/>
                    <a:p>
                      <a:pPr marL="0" lvl="0" indent="0" algn="l" rtl="0">
                        <a:spcBef>
                          <a:spcPts val="0"/>
                        </a:spcBef>
                        <a:spcAft>
                          <a:spcPts val="0"/>
                        </a:spcAft>
                        <a:buNone/>
                      </a:pPr>
                      <a:r>
                        <a:rPr lang="en-US" sz="1100"/>
                        <a:t>Day.of.Week</a:t>
                      </a:r>
                      <a:endParaRPr sz="1100"/>
                    </a:p>
                  </a:txBody>
                  <a:tcPr marL="91425" marR="91425" marT="91425" marB="91425"/>
                </a:tc>
                <a:tc>
                  <a:txBody>
                    <a:bodyPr/>
                    <a:lstStyle/>
                    <a:p>
                      <a:pPr marL="0" lvl="0" indent="0" algn="l" rtl="0">
                        <a:spcBef>
                          <a:spcPts val="0"/>
                        </a:spcBef>
                        <a:spcAft>
                          <a:spcPts val="0"/>
                        </a:spcAft>
                        <a:buNone/>
                      </a:pPr>
                      <a:r>
                        <a:rPr lang="en-US" sz="1100"/>
                        <a:t>1124</a:t>
                      </a:r>
                      <a:endParaRPr sz="1100"/>
                    </a:p>
                  </a:txBody>
                  <a:tcPr marL="91425" marR="91425" marT="91425" marB="91425"/>
                </a:tc>
                <a:extLst>
                  <a:ext uri="{0D108BD9-81ED-4DB2-BD59-A6C34878D82A}">
                    <a16:rowId xmlns:a16="http://schemas.microsoft.com/office/drawing/2014/main" val="10003"/>
                  </a:ext>
                </a:extLst>
              </a:tr>
              <a:tr h="366625">
                <a:tc>
                  <a:txBody>
                    <a:bodyPr/>
                    <a:lstStyle/>
                    <a:p>
                      <a:pPr marL="0" lvl="0" indent="0" algn="l" rtl="0">
                        <a:spcBef>
                          <a:spcPts val="0"/>
                        </a:spcBef>
                        <a:spcAft>
                          <a:spcPts val="0"/>
                        </a:spcAft>
                        <a:buNone/>
                      </a:pPr>
                      <a:r>
                        <a:rPr lang="en-US" sz="1100"/>
                        <a:t>RHR                                  </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04"/>
                  </a:ext>
                </a:extLst>
              </a:tr>
              <a:tr h="366625">
                <a:tc>
                  <a:txBody>
                    <a:bodyPr/>
                    <a:lstStyle/>
                    <a:p>
                      <a:pPr marL="0" lvl="0" indent="0" algn="l" rtl="0">
                        <a:spcBef>
                          <a:spcPts val="0"/>
                        </a:spcBef>
                        <a:spcAft>
                          <a:spcPts val="0"/>
                        </a:spcAft>
                        <a:buNone/>
                      </a:pPr>
                      <a:r>
                        <a:rPr lang="en-US" sz="1100"/>
                        <a:t>HRV</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05"/>
                  </a:ext>
                </a:extLst>
              </a:tr>
              <a:tr h="366625">
                <a:tc>
                  <a:txBody>
                    <a:bodyPr/>
                    <a:lstStyle/>
                    <a:p>
                      <a:pPr marL="0" lvl="0" indent="0" algn="l" rtl="0">
                        <a:spcBef>
                          <a:spcPts val="0"/>
                        </a:spcBef>
                        <a:spcAft>
                          <a:spcPts val="0"/>
                        </a:spcAft>
                        <a:buNone/>
                      </a:pPr>
                      <a:r>
                        <a:rPr lang="en-US" sz="1100"/>
                        <a:t>Recovery </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06"/>
                  </a:ext>
                </a:extLst>
              </a:tr>
              <a:tr h="366625">
                <a:tc>
                  <a:txBody>
                    <a:bodyPr/>
                    <a:lstStyle/>
                    <a:p>
                      <a:pPr marL="0" lvl="0" indent="0" algn="l" rtl="0">
                        <a:spcBef>
                          <a:spcPts val="0"/>
                        </a:spcBef>
                        <a:spcAft>
                          <a:spcPts val="0"/>
                        </a:spcAft>
                        <a:buNone/>
                      </a:pPr>
                      <a:r>
                        <a:rPr lang="en-US" sz="1100"/>
                        <a:t>Sleep.Score</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07"/>
                  </a:ext>
                </a:extLst>
              </a:tr>
              <a:tr h="366625">
                <a:tc>
                  <a:txBody>
                    <a:bodyPr/>
                    <a:lstStyle/>
                    <a:p>
                      <a:pPr marL="0" lvl="0" indent="0" algn="l" rtl="0">
                        <a:spcBef>
                          <a:spcPts val="0"/>
                        </a:spcBef>
                        <a:spcAft>
                          <a:spcPts val="0"/>
                        </a:spcAft>
                        <a:buNone/>
                      </a:pPr>
                      <a:r>
                        <a:rPr lang="en-US" sz="1100"/>
                        <a:t>Hours.in.Bed </a:t>
                      </a:r>
                      <a:endParaRPr sz="11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100">
                          <a:solidFill>
                            <a:schemeClr val="dk1"/>
                          </a:solidFill>
                        </a:rPr>
                        <a:t>1130</a:t>
                      </a:r>
                      <a:endParaRPr sz="1100"/>
                    </a:p>
                  </a:txBody>
                  <a:tcPr marL="91425" marR="91425" marT="91425" marB="91425"/>
                </a:tc>
                <a:extLst>
                  <a:ext uri="{0D108BD9-81ED-4DB2-BD59-A6C34878D82A}">
                    <a16:rowId xmlns:a16="http://schemas.microsoft.com/office/drawing/2014/main" val="10008"/>
                  </a:ext>
                </a:extLst>
              </a:tr>
              <a:tr h="366625">
                <a:tc>
                  <a:txBody>
                    <a:bodyPr/>
                    <a:lstStyle/>
                    <a:p>
                      <a:pPr marL="0" lvl="0" indent="0" algn="l" rtl="0">
                        <a:spcBef>
                          <a:spcPts val="0"/>
                        </a:spcBef>
                        <a:spcAft>
                          <a:spcPts val="0"/>
                        </a:spcAft>
                        <a:buNone/>
                      </a:pPr>
                      <a:r>
                        <a:rPr lang="en-US" sz="1100"/>
                        <a:t>Hours.of.Sleep </a:t>
                      </a:r>
                      <a:endParaRPr sz="11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100">
                          <a:solidFill>
                            <a:schemeClr val="dk1"/>
                          </a:solidFill>
                        </a:rPr>
                        <a:t>1130</a:t>
                      </a:r>
                      <a:endParaRPr sz="1100"/>
                    </a:p>
                  </a:txBody>
                  <a:tcPr marL="91425" marR="91425" marT="91425" marB="91425"/>
                </a:tc>
                <a:extLst>
                  <a:ext uri="{0D108BD9-81ED-4DB2-BD59-A6C34878D82A}">
                    <a16:rowId xmlns:a16="http://schemas.microsoft.com/office/drawing/2014/main" val="10009"/>
                  </a:ext>
                </a:extLst>
              </a:tr>
              <a:tr h="366625">
                <a:tc>
                  <a:txBody>
                    <a:bodyPr/>
                    <a:lstStyle/>
                    <a:p>
                      <a:pPr marL="0" lvl="0" indent="0" algn="l" rtl="0">
                        <a:spcBef>
                          <a:spcPts val="0"/>
                        </a:spcBef>
                        <a:spcAft>
                          <a:spcPts val="0"/>
                        </a:spcAft>
                        <a:buNone/>
                      </a:pPr>
                      <a:r>
                        <a:rPr lang="en-US" sz="1100"/>
                        <a:t>Sleep.Need </a:t>
                      </a:r>
                      <a:endParaRPr sz="11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100">
                          <a:solidFill>
                            <a:schemeClr val="dk1"/>
                          </a:solidFill>
                        </a:rPr>
                        <a:t>1130</a:t>
                      </a:r>
                      <a:endParaRPr sz="1100"/>
                    </a:p>
                  </a:txBody>
                  <a:tcPr marL="91425" marR="91425" marT="91425" marB="91425"/>
                </a:tc>
                <a:extLst>
                  <a:ext uri="{0D108BD9-81ED-4DB2-BD59-A6C34878D82A}">
                    <a16:rowId xmlns:a16="http://schemas.microsoft.com/office/drawing/2014/main" val="10010"/>
                  </a:ext>
                </a:extLst>
              </a:tr>
              <a:tr h="366625">
                <a:tc>
                  <a:txBody>
                    <a:bodyPr/>
                    <a:lstStyle/>
                    <a:p>
                      <a:pPr marL="0" lvl="0" indent="0" algn="l" rtl="0">
                        <a:spcBef>
                          <a:spcPts val="0"/>
                        </a:spcBef>
                        <a:spcAft>
                          <a:spcPts val="0"/>
                        </a:spcAft>
                        <a:buNone/>
                      </a:pPr>
                      <a:r>
                        <a:rPr lang="en-US" sz="1100"/>
                        <a:t>Sleep.Efficiency.... </a:t>
                      </a:r>
                      <a:endParaRPr sz="11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100">
                          <a:solidFill>
                            <a:schemeClr val="dk1"/>
                          </a:solidFill>
                        </a:rPr>
                        <a:t>1130</a:t>
                      </a:r>
                      <a:endParaRPr sz="1100"/>
                    </a:p>
                  </a:txBody>
                  <a:tcPr marL="91425" marR="91425" marT="91425" marB="91425"/>
                </a:tc>
                <a:extLst>
                  <a:ext uri="{0D108BD9-81ED-4DB2-BD59-A6C34878D82A}">
                    <a16:rowId xmlns:a16="http://schemas.microsoft.com/office/drawing/2014/main" val="10011"/>
                  </a:ext>
                </a:extLst>
              </a:tr>
              <a:tr h="366625">
                <a:tc>
                  <a:txBody>
                    <a:bodyPr/>
                    <a:lstStyle/>
                    <a:p>
                      <a:pPr marL="0" lvl="0" indent="0" algn="l" rtl="0">
                        <a:spcBef>
                          <a:spcPts val="0"/>
                        </a:spcBef>
                        <a:spcAft>
                          <a:spcPts val="0"/>
                        </a:spcAft>
                        <a:buNone/>
                      </a:pPr>
                      <a:r>
                        <a:rPr lang="en-US" sz="1100"/>
                        <a:t>Wake.Periods </a:t>
                      </a:r>
                      <a:endParaRPr sz="1100"/>
                    </a:p>
                  </a:txBody>
                  <a:tcPr marL="91425" marR="91425" marT="91425" marB="91425"/>
                </a:tc>
                <a:tc>
                  <a:txBody>
                    <a:bodyPr/>
                    <a:lstStyle/>
                    <a:p>
                      <a:pPr marL="0" lvl="0" indent="0" algn="l" rtl="0">
                        <a:spcBef>
                          <a:spcPts val="0"/>
                        </a:spcBef>
                        <a:spcAft>
                          <a:spcPts val="0"/>
                        </a:spcAft>
                        <a:buNone/>
                      </a:pPr>
                      <a:r>
                        <a:rPr lang="en-US" sz="1100"/>
                        <a:t>1490</a:t>
                      </a:r>
                      <a:endParaRPr sz="1100"/>
                    </a:p>
                  </a:txBody>
                  <a:tcPr marL="91425" marR="91425" marT="91425" marB="91425"/>
                </a:tc>
                <a:extLst>
                  <a:ext uri="{0D108BD9-81ED-4DB2-BD59-A6C34878D82A}">
                    <a16:rowId xmlns:a16="http://schemas.microsoft.com/office/drawing/2014/main" val="10012"/>
                  </a:ext>
                </a:extLst>
              </a:tr>
              <a:tr h="366625">
                <a:tc>
                  <a:txBody>
                    <a:bodyPr/>
                    <a:lstStyle/>
                    <a:p>
                      <a:pPr marL="0" lvl="0" indent="0" algn="l" rtl="0">
                        <a:spcBef>
                          <a:spcPts val="0"/>
                        </a:spcBef>
                        <a:spcAft>
                          <a:spcPts val="0"/>
                        </a:spcAft>
                        <a:buNone/>
                      </a:pPr>
                      <a:r>
                        <a:rPr lang="en-US" sz="1100"/>
                        <a:t>Sleep.Disturbances </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13"/>
                  </a:ext>
                </a:extLst>
              </a:tr>
              <a:tr h="366625">
                <a:tc>
                  <a:txBody>
                    <a:bodyPr/>
                    <a:lstStyle/>
                    <a:p>
                      <a:pPr marL="0" lvl="0" indent="0" algn="l" rtl="0">
                        <a:spcBef>
                          <a:spcPts val="0"/>
                        </a:spcBef>
                        <a:spcAft>
                          <a:spcPts val="0"/>
                        </a:spcAft>
                        <a:buNone/>
                      </a:pPr>
                      <a:r>
                        <a:rPr lang="en-US" sz="1100"/>
                        <a:t>Latency..min.</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14"/>
                  </a:ext>
                </a:extLst>
              </a:tr>
            </a:tbl>
          </a:graphicData>
        </a:graphic>
      </p:graphicFrame>
      <p:graphicFrame>
        <p:nvGraphicFramePr>
          <p:cNvPr id="143" name="Google Shape;143;g3407af7eea2_0_20"/>
          <p:cNvGraphicFramePr/>
          <p:nvPr/>
        </p:nvGraphicFramePr>
        <p:xfrm>
          <a:off x="6887425" y="716613"/>
          <a:ext cx="3000000" cy="3000000"/>
        </p:xfrm>
        <a:graphic>
          <a:graphicData uri="http://schemas.openxmlformats.org/drawingml/2006/table">
            <a:tbl>
              <a:tblPr>
                <a:noFill/>
                <a:tableStyleId>{EE692E04-22D4-428F-9DFE-49AED598DD16}</a:tableStyleId>
              </a:tblPr>
              <a:tblGrid>
                <a:gridCol w="1911625">
                  <a:extLst>
                    <a:ext uri="{9D8B030D-6E8A-4147-A177-3AD203B41FA5}">
                      <a16:colId xmlns:a16="http://schemas.microsoft.com/office/drawing/2014/main" val="20000"/>
                    </a:ext>
                  </a:extLst>
                </a:gridCol>
                <a:gridCol w="1911625">
                  <a:extLst>
                    <a:ext uri="{9D8B030D-6E8A-4147-A177-3AD203B41FA5}">
                      <a16:colId xmlns:a16="http://schemas.microsoft.com/office/drawing/2014/main" val="20001"/>
                    </a:ext>
                  </a:extLst>
                </a:gridCol>
              </a:tblGrid>
              <a:tr h="355300">
                <a:tc>
                  <a:txBody>
                    <a:bodyPr/>
                    <a:lstStyle/>
                    <a:p>
                      <a:pPr marL="0" lvl="0" indent="0" algn="l" rtl="0">
                        <a:spcBef>
                          <a:spcPts val="0"/>
                        </a:spcBef>
                        <a:spcAft>
                          <a:spcPts val="0"/>
                        </a:spcAft>
                        <a:buNone/>
                      </a:pPr>
                      <a:r>
                        <a:rPr lang="en-US" sz="1100"/>
                        <a:t>Column</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Null Value Count</a:t>
                      </a:r>
                      <a:endParaRPr sz="11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55300">
                <a:tc>
                  <a:txBody>
                    <a:bodyPr/>
                    <a:lstStyle/>
                    <a:p>
                      <a:pPr marL="0" lvl="0" indent="0" algn="l" rtl="0">
                        <a:spcBef>
                          <a:spcPts val="0"/>
                        </a:spcBef>
                        <a:spcAft>
                          <a:spcPts val="0"/>
                        </a:spcAft>
                        <a:buNone/>
                      </a:pPr>
                      <a:r>
                        <a:rPr lang="en-US" sz="1100"/>
                        <a:t>Cycles </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1130</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55300">
                <a:tc>
                  <a:txBody>
                    <a:bodyPr/>
                    <a:lstStyle/>
                    <a:p>
                      <a:pPr marL="0" lvl="0" indent="0" algn="l" rtl="0">
                        <a:spcBef>
                          <a:spcPts val="0"/>
                        </a:spcBef>
                        <a:spcAft>
                          <a:spcPts val="0"/>
                        </a:spcAft>
                        <a:buNone/>
                      </a:pPr>
                      <a:r>
                        <a:rPr lang="en-US" sz="1100"/>
                        <a:t>REM.Sleep..hours.</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1130</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55300">
                <a:tc>
                  <a:txBody>
                    <a:bodyPr/>
                    <a:lstStyle/>
                    <a:p>
                      <a:pPr marL="0" lvl="0" indent="0" algn="l" rtl="0">
                        <a:spcBef>
                          <a:spcPts val="0"/>
                        </a:spcBef>
                        <a:spcAft>
                          <a:spcPts val="0"/>
                        </a:spcAft>
                        <a:buNone/>
                      </a:pPr>
                      <a:r>
                        <a:rPr lang="en-US" sz="1100"/>
                        <a:t>Deep.Sleep..hours. </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1130</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55300">
                <a:tc>
                  <a:txBody>
                    <a:bodyPr/>
                    <a:lstStyle/>
                    <a:p>
                      <a:pPr marL="0" lvl="0" indent="0" algn="l" rtl="0">
                        <a:spcBef>
                          <a:spcPts val="0"/>
                        </a:spcBef>
                        <a:spcAft>
                          <a:spcPts val="0"/>
                        </a:spcAft>
                        <a:buNone/>
                      </a:pPr>
                      <a:r>
                        <a:rPr lang="en-US" sz="1100"/>
                        <a:t>Light.Sleep..hours.                                </a:t>
                      </a:r>
                      <a:endParaRPr sz="11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100"/>
                        <a:t>1130</a:t>
                      </a:r>
                      <a:endParaRPr sz="11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355300">
                <a:tc>
                  <a:txBody>
                    <a:bodyPr/>
                    <a:lstStyle/>
                    <a:p>
                      <a:pPr marL="0" lvl="0" indent="0" algn="l" rtl="0">
                        <a:spcBef>
                          <a:spcPts val="0"/>
                        </a:spcBef>
                        <a:spcAft>
                          <a:spcPts val="0"/>
                        </a:spcAft>
                        <a:buNone/>
                      </a:pPr>
                      <a:r>
                        <a:rPr lang="en-US" sz="1100"/>
                        <a:t>Awake..hours.</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05"/>
                  </a:ext>
                </a:extLst>
              </a:tr>
              <a:tr h="355300">
                <a:tc>
                  <a:txBody>
                    <a:bodyPr/>
                    <a:lstStyle/>
                    <a:p>
                      <a:pPr marL="0" lvl="0" indent="0" algn="l" rtl="0">
                        <a:spcBef>
                          <a:spcPts val="0"/>
                        </a:spcBef>
                        <a:spcAft>
                          <a:spcPts val="0"/>
                        </a:spcAft>
                        <a:buNone/>
                      </a:pPr>
                      <a:r>
                        <a:rPr lang="en-US" sz="1100"/>
                        <a:t>Sleep.Debt..hours.  </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06"/>
                  </a:ext>
                </a:extLst>
              </a:tr>
              <a:tr h="355300">
                <a:tc>
                  <a:txBody>
                    <a:bodyPr/>
                    <a:lstStyle/>
                    <a:p>
                      <a:pPr marL="0" lvl="0" indent="0" algn="l" rtl="0">
                        <a:spcBef>
                          <a:spcPts val="0"/>
                        </a:spcBef>
                        <a:spcAft>
                          <a:spcPts val="0"/>
                        </a:spcAft>
                        <a:buNone/>
                      </a:pPr>
                      <a:r>
                        <a:rPr lang="en-US" sz="1100"/>
                        <a:t>Sleep.Consistency </a:t>
                      </a:r>
                      <a:endParaRPr sz="1100"/>
                    </a:p>
                  </a:txBody>
                  <a:tcPr marL="91425" marR="91425" marT="91425" marB="91425"/>
                </a:tc>
                <a:tc>
                  <a:txBody>
                    <a:bodyPr/>
                    <a:lstStyle/>
                    <a:p>
                      <a:pPr marL="0" lvl="0" indent="0" algn="l" rtl="0">
                        <a:spcBef>
                          <a:spcPts val="0"/>
                        </a:spcBef>
                        <a:spcAft>
                          <a:spcPts val="0"/>
                        </a:spcAft>
                        <a:buNone/>
                      </a:pPr>
                      <a:r>
                        <a:rPr lang="en-US" sz="1100"/>
                        <a:t>1401</a:t>
                      </a:r>
                      <a:endParaRPr sz="1100"/>
                    </a:p>
                  </a:txBody>
                  <a:tcPr marL="91425" marR="91425" marT="91425" marB="91425"/>
                </a:tc>
                <a:extLst>
                  <a:ext uri="{0D108BD9-81ED-4DB2-BD59-A6C34878D82A}">
                    <a16:rowId xmlns:a16="http://schemas.microsoft.com/office/drawing/2014/main" val="10007"/>
                  </a:ext>
                </a:extLst>
              </a:tr>
              <a:tr h="355300">
                <a:tc>
                  <a:txBody>
                    <a:bodyPr/>
                    <a:lstStyle/>
                    <a:p>
                      <a:pPr marL="0" lvl="0" indent="0" algn="l" rtl="0">
                        <a:spcBef>
                          <a:spcPts val="0"/>
                        </a:spcBef>
                        <a:spcAft>
                          <a:spcPts val="0"/>
                        </a:spcAft>
                        <a:buNone/>
                      </a:pPr>
                      <a:r>
                        <a:rPr lang="en-US" sz="1100"/>
                        <a:t>Respiratory.Rate  </a:t>
                      </a:r>
                      <a:endParaRPr sz="1100"/>
                    </a:p>
                  </a:txBody>
                  <a:tcPr marL="91425" marR="91425" marT="91425" marB="91425"/>
                </a:tc>
                <a:tc>
                  <a:txBody>
                    <a:bodyPr/>
                    <a:lstStyle/>
                    <a:p>
                      <a:pPr marL="0" lvl="0" indent="0" algn="l" rtl="0">
                        <a:spcBef>
                          <a:spcPts val="0"/>
                        </a:spcBef>
                        <a:spcAft>
                          <a:spcPts val="0"/>
                        </a:spcAft>
                        <a:buNone/>
                      </a:pPr>
                      <a:r>
                        <a:rPr lang="en-US" sz="1100">
                          <a:solidFill>
                            <a:schemeClr val="dk1"/>
                          </a:solidFill>
                        </a:rPr>
                        <a:t>1134</a:t>
                      </a:r>
                      <a:endParaRPr sz="1100"/>
                    </a:p>
                  </a:txBody>
                  <a:tcPr marL="91425" marR="91425" marT="91425" marB="91425"/>
                </a:tc>
                <a:extLst>
                  <a:ext uri="{0D108BD9-81ED-4DB2-BD59-A6C34878D82A}">
                    <a16:rowId xmlns:a16="http://schemas.microsoft.com/office/drawing/2014/main" val="10008"/>
                  </a:ext>
                </a:extLst>
              </a:tr>
              <a:tr h="525250">
                <a:tc>
                  <a:txBody>
                    <a:bodyPr/>
                    <a:lstStyle/>
                    <a:p>
                      <a:pPr marL="0" lvl="0" indent="0" algn="l" rtl="0">
                        <a:spcBef>
                          <a:spcPts val="0"/>
                        </a:spcBef>
                        <a:spcAft>
                          <a:spcPts val="0"/>
                        </a:spcAft>
                        <a:buNone/>
                      </a:pPr>
                      <a:r>
                        <a:rPr lang="en-US" sz="1100"/>
                        <a:t>Total.Cycle.Sleep.Time..hours.  </a:t>
                      </a:r>
                      <a:endParaRPr sz="1100"/>
                    </a:p>
                  </a:txBody>
                  <a:tcPr marL="91425" marR="91425" marT="91425" marB="91425"/>
                </a:tc>
                <a:tc>
                  <a:txBody>
                    <a:bodyPr/>
                    <a:lstStyle/>
                    <a:p>
                      <a:pPr marL="0" lvl="0" indent="0" algn="l" rtl="0">
                        <a:spcBef>
                          <a:spcPts val="0"/>
                        </a:spcBef>
                        <a:spcAft>
                          <a:spcPts val="0"/>
                        </a:spcAft>
                        <a:buNone/>
                      </a:pPr>
                      <a:r>
                        <a:rPr lang="en-US" sz="1100">
                          <a:solidFill>
                            <a:schemeClr val="dk1"/>
                          </a:solidFill>
                        </a:rPr>
                        <a:t>1130</a:t>
                      </a:r>
                      <a:endParaRPr sz="1100"/>
                    </a:p>
                  </a:txBody>
                  <a:tcPr marL="91425" marR="91425" marT="91425" marB="91425"/>
                </a:tc>
                <a:extLst>
                  <a:ext uri="{0D108BD9-81ED-4DB2-BD59-A6C34878D82A}">
                    <a16:rowId xmlns:a16="http://schemas.microsoft.com/office/drawing/2014/main" val="10009"/>
                  </a:ext>
                </a:extLst>
              </a:tr>
              <a:tr h="355300">
                <a:tc>
                  <a:txBody>
                    <a:bodyPr/>
                    <a:lstStyle/>
                    <a:p>
                      <a:pPr marL="0" lvl="0" indent="0" algn="l" rtl="0">
                        <a:spcBef>
                          <a:spcPts val="0"/>
                        </a:spcBef>
                        <a:spcAft>
                          <a:spcPts val="0"/>
                        </a:spcAft>
                        <a:buNone/>
                      </a:pPr>
                      <a:r>
                        <a:rPr lang="en-US" sz="1100"/>
                        <a:t>REM.Percentage </a:t>
                      </a:r>
                      <a:endParaRPr sz="1100"/>
                    </a:p>
                  </a:txBody>
                  <a:tcPr marL="91425" marR="91425" marT="91425" marB="91425"/>
                </a:tc>
                <a:tc>
                  <a:txBody>
                    <a:bodyPr/>
                    <a:lstStyle/>
                    <a:p>
                      <a:pPr marL="0" lvl="0" indent="0" algn="l" rtl="0">
                        <a:spcBef>
                          <a:spcPts val="0"/>
                        </a:spcBef>
                        <a:spcAft>
                          <a:spcPts val="0"/>
                        </a:spcAft>
                        <a:buNone/>
                      </a:pPr>
                      <a:r>
                        <a:rPr lang="en-US" sz="1100">
                          <a:solidFill>
                            <a:schemeClr val="dk1"/>
                          </a:solidFill>
                        </a:rPr>
                        <a:t>1130</a:t>
                      </a:r>
                      <a:endParaRPr sz="1100"/>
                    </a:p>
                  </a:txBody>
                  <a:tcPr marL="91425" marR="91425" marT="91425" marB="91425"/>
                </a:tc>
                <a:extLst>
                  <a:ext uri="{0D108BD9-81ED-4DB2-BD59-A6C34878D82A}">
                    <a16:rowId xmlns:a16="http://schemas.microsoft.com/office/drawing/2014/main" val="10010"/>
                  </a:ext>
                </a:extLst>
              </a:tr>
              <a:tr h="355300">
                <a:tc>
                  <a:txBody>
                    <a:bodyPr/>
                    <a:lstStyle/>
                    <a:p>
                      <a:pPr marL="0" lvl="0" indent="0" algn="l" rtl="0">
                        <a:spcBef>
                          <a:spcPts val="0"/>
                        </a:spcBef>
                        <a:spcAft>
                          <a:spcPts val="0"/>
                        </a:spcAft>
                        <a:buNone/>
                      </a:pPr>
                      <a:r>
                        <a:rPr lang="en-US" sz="1100"/>
                        <a:t>Deep.Sleep.Percentage</a:t>
                      </a:r>
                      <a:endParaRPr sz="1100"/>
                    </a:p>
                  </a:txBody>
                  <a:tcPr marL="91425" marR="91425" marT="91425" marB="91425"/>
                </a:tc>
                <a:tc>
                  <a:txBody>
                    <a:bodyPr/>
                    <a:lstStyle/>
                    <a:p>
                      <a:pPr marL="0" lvl="0" indent="0" algn="l" rtl="0">
                        <a:spcBef>
                          <a:spcPts val="0"/>
                        </a:spcBef>
                        <a:spcAft>
                          <a:spcPts val="0"/>
                        </a:spcAft>
                        <a:buNone/>
                      </a:pPr>
                      <a:r>
                        <a:rPr lang="en-US" sz="1100">
                          <a:solidFill>
                            <a:schemeClr val="dk1"/>
                          </a:solidFill>
                        </a:rPr>
                        <a:t>1130</a:t>
                      </a:r>
                      <a:endParaRPr sz="1100"/>
                    </a:p>
                  </a:txBody>
                  <a:tcPr marL="91425" marR="91425" marT="91425" marB="91425"/>
                </a:tc>
                <a:extLst>
                  <a:ext uri="{0D108BD9-81ED-4DB2-BD59-A6C34878D82A}">
                    <a16:rowId xmlns:a16="http://schemas.microsoft.com/office/drawing/2014/main" val="10011"/>
                  </a:ext>
                </a:extLst>
              </a:tr>
              <a:tr h="355300">
                <a:tc>
                  <a:txBody>
                    <a:bodyPr/>
                    <a:lstStyle/>
                    <a:p>
                      <a:pPr marL="0" lvl="0" indent="0" algn="l" rtl="0">
                        <a:spcBef>
                          <a:spcPts val="0"/>
                        </a:spcBef>
                        <a:spcAft>
                          <a:spcPts val="0"/>
                        </a:spcAft>
                        <a:buNone/>
                      </a:pPr>
                      <a:r>
                        <a:rPr lang="en-US" sz="1100"/>
                        <a:t>Restorative.Sleep..hours.</a:t>
                      </a:r>
                      <a:endParaRPr sz="1100"/>
                    </a:p>
                  </a:txBody>
                  <a:tcPr marL="91425" marR="91425" marT="91425" marB="91425"/>
                </a:tc>
                <a:tc>
                  <a:txBody>
                    <a:bodyPr/>
                    <a:lstStyle/>
                    <a:p>
                      <a:pPr marL="0" lvl="0" indent="0" algn="l" rtl="0">
                        <a:spcBef>
                          <a:spcPts val="0"/>
                        </a:spcBef>
                        <a:spcAft>
                          <a:spcPts val="0"/>
                        </a:spcAft>
                        <a:buNone/>
                      </a:pPr>
                      <a:r>
                        <a:rPr lang="en-US" sz="1100"/>
                        <a:t>1490</a:t>
                      </a:r>
                      <a:endParaRPr sz="1100"/>
                    </a:p>
                  </a:txBody>
                  <a:tcPr marL="91425" marR="91425" marT="91425" marB="91425"/>
                </a:tc>
                <a:extLst>
                  <a:ext uri="{0D108BD9-81ED-4DB2-BD59-A6C34878D82A}">
                    <a16:rowId xmlns:a16="http://schemas.microsoft.com/office/drawing/2014/main" val="10012"/>
                  </a:ext>
                </a:extLst>
              </a:tr>
              <a:tr h="355300">
                <a:tc>
                  <a:txBody>
                    <a:bodyPr/>
                    <a:lstStyle/>
                    <a:p>
                      <a:pPr marL="0" lvl="0" indent="0" algn="l" rtl="0">
                        <a:spcBef>
                          <a:spcPts val="0"/>
                        </a:spcBef>
                        <a:spcAft>
                          <a:spcPts val="0"/>
                        </a:spcAft>
                        <a:buNone/>
                      </a:pPr>
                      <a:r>
                        <a:rPr lang="en-US" sz="1100"/>
                        <a:t>Restorative.Sleep.... </a:t>
                      </a:r>
                      <a:endParaRPr sz="1100"/>
                    </a:p>
                  </a:txBody>
                  <a:tcPr marL="91425" marR="91425" marT="91425" marB="91425"/>
                </a:tc>
                <a:tc>
                  <a:txBody>
                    <a:bodyPr/>
                    <a:lstStyle/>
                    <a:p>
                      <a:pPr marL="0" lvl="0" indent="0" algn="l" rtl="0">
                        <a:spcBef>
                          <a:spcPts val="0"/>
                        </a:spcBef>
                        <a:spcAft>
                          <a:spcPts val="0"/>
                        </a:spcAft>
                        <a:buNone/>
                      </a:pPr>
                      <a:r>
                        <a:rPr lang="en-US" sz="1100"/>
                        <a:t>1130</a:t>
                      </a:r>
                      <a:endParaRPr sz="1100"/>
                    </a:p>
                  </a:txBody>
                  <a:tcPr marL="91425" marR="91425" marT="91425" marB="91425"/>
                </a:tc>
                <a:extLst>
                  <a:ext uri="{0D108BD9-81ED-4DB2-BD59-A6C34878D82A}">
                    <a16:rowId xmlns:a16="http://schemas.microsoft.com/office/drawing/2014/main" val="10013"/>
                  </a:ext>
                </a:extLst>
              </a:tr>
              <a:tr h="355300">
                <a:tc>
                  <a:txBody>
                    <a:bodyPr/>
                    <a:lstStyle/>
                    <a:p>
                      <a:pPr marL="0" lvl="0" indent="0" algn="l" rtl="0">
                        <a:spcBef>
                          <a:spcPts val="0"/>
                        </a:spcBef>
                        <a:spcAft>
                          <a:spcPts val="0"/>
                        </a:spcAft>
                        <a:buNone/>
                      </a:pPr>
                      <a:r>
                        <a:rPr lang="en-US" sz="1100"/>
                        <a:t>RSI</a:t>
                      </a:r>
                      <a:endParaRPr sz="1100"/>
                    </a:p>
                  </a:txBody>
                  <a:tcPr marL="91425" marR="91425" marT="91425" marB="91425"/>
                </a:tc>
                <a:tc>
                  <a:txBody>
                    <a:bodyPr/>
                    <a:lstStyle/>
                    <a:p>
                      <a:pPr marL="0" lvl="0" indent="0" algn="l" rtl="0">
                        <a:spcBef>
                          <a:spcPts val="0"/>
                        </a:spcBef>
                        <a:spcAft>
                          <a:spcPts val="0"/>
                        </a:spcAft>
                        <a:buNone/>
                      </a:pPr>
                      <a:r>
                        <a:rPr lang="en-US" sz="1100"/>
                        <a:t>2925 </a:t>
                      </a:r>
                      <a:endParaRPr sz="1100"/>
                    </a:p>
                  </a:txBody>
                  <a:tcPr marL="91425" marR="91425" marT="91425" marB="91425"/>
                </a:tc>
                <a:extLst>
                  <a:ext uri="{0D108BD9-81ED-4DB2-BD59-A6C34878D82A}">
                    <a16:rowId xmlns:a16="http://schemas.microsoft.com/office/drawing/2014/main" val="1001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358eca5d40_0_6"/>
          <p:cNvSpPr txBox="1">
            <a:spLocks noGrp="1"/>
          </p:cNvSpPr>
          <p:nvPr>
            <p:ph type="title"/>
          </p:nvPr>
        </p:nvSpPr>
        <p:spPr>
          <a:xfrm>
            <a:off x="541800" y="81350"/>
            <a:ext cx="10417500" cy="893400"/>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SzPts val="4000"/>
              <a:buNone/>
            </a:pPr>
            <a:r>
              <a:rPr lang="en-US"/>
              <a:t>Approach (1/2)</a:t>
            </a:r>
            <a:endParaRPr/>
          </a:p>
        </p:txBody>
      </p:sp>
      <p:sp>
        <p:nvSpPr>
          <p:cNvPr id="149" name="Google Shape;149;g3358eca5d40_0_6"/>
          <p:cNvSpPr txBox="1"/>
          <p:nvPr/>
        </p:nvSpPr>
        <p:spPr>
          <a:xfrm>
            <a:off x="731725" y="1627325"/>
            <a:ext cx="10355100" cy="4303500"/>
          </a:xfrm>
          <a:prstGeom prst="rect">
            <a:avLst/>
          </a:prstGeom>
          <a:noFill/>
          <a:ln>
            <a:noFill/>
          </a:ln>
        </p:spPr>
        <p:txBody>
          <a:bodyPr spcFirstLastPara="1" wrap="square" lIns="91425" tIns="91425" rIns="91425" bIns="91425" anchor="t" anchorCtr="0">
            <a:noAutofit/>
          </a:bodyPr>
          <a:lstStyle/>
          <a:p>
            <a:pPr marL="457200" lvl="0" indent="-381000" algn="l" rtl="0">
              <a:lnSpc>
                <a:spcPct val="155000"/>
              </a:lnSpc>
              <a:spcBef>
                <a:spcPts val="0"/>
              </a:spcBef>
              <a:spcAft>
                <a:spcPts val="0"/>
              </a:spcAft>
              <a:buSzPts val="2400"/>
              <a:buFont typeface="Helvetica Neue Light"/>
              <a:buChar char="●"/>
            </a:pPr>
            <a:r>
              <a:rPr lang="en-US" sz="2400">
                <a:latin typeface="Helvetica Neue Light"/>
                <a:ea typeface="Helvetica Neue Light"/>
                <a:cs typeface="Helvetica Neue Light"/>
                <a:sym typeface="Helvetica Neue Light"/>
              </a:rPr>
              <a:t>Used Iterative Imputer(MICE) with XGBoost as model to replace the missing values in the data. </a:t>
            </a:r>
            <a:r>
              <a:rPr lang="en-US" sz="2400">
                <a:solidFill>
                  <a:schemeClr val="dk1"/>
                </a:solidFill>
                <a:latin typeface="Helvetica Neue Light"/>
                <a:ea typeface="Helvetica Neue Light"/>
                <a:cs typeface="Helvetica Neue Light"/>
                <a:sym typeface="Helvetica Neue Light"/>
              </a:rPr>
              <a:t>Scaled the data with standard scaler.</a:t>
            </a:r>
            <a:endParaRPr sz="2400">
              <a:latin typeface="Helvetica Neue Light"/>
              <a:ea typeface="Helvetica Neue Light"/>
              <a:cs typeface="Helvetica Neue Light"/>
              <a:sym typeface="Helvetica Neue Light"/>
            </a:endParaRPr>
          </a:p>
          <a:p>
            <a:pPr marL="457200" lvl="0" indent="-381000" algn="l" rtl="0">
              <a:lnSpc>
                <a:spcPct val="155000"/>
              </a:lnSpc>
              <a:spcBef>
                <a:spcPts val="0"/>
              </a:spcBef>
              <a:spcAft>
                <a:spcPts val="0"/>
              </a:spcAft>
              <a:buSzPts val="2400"/>
              <a:buFont typeface="Helvetica Neue Light"/>
              <a:buChar char="●"/>
            </a:pPr>
            <a:r>
              <a:rPr lang="en-US" sz="2400">
                <a:latin typeface="Helvetica Neue Light"/>
                <a:ea typeface="Helvetica Neue Light"/>
                <a:cs typeface="Helvetica Neue Light"/>
                <a:sym typeface="Helvetica Neue Light"/>
              </a:rPr>
              <a:t>Used Recursive Feature Elimination(RFE) with </a:t>
            </a:r>
            <a:r>
              <a:rPr lang="en-US" sz="2400">
                <a:solidFill>
                  <a:schemeClr val="dk1"/>
                </a:solidFill>
                <a:latin typeface="Helvetica Neue Light"/>
                <a:ea typeface="Helvetica Neue Light"/>
                <a:cs typeface="Helvetica Neue Light"/>
                <a:sym typeface="Helvetica Neue Light"/>
              </a:rPr>
              <a:t>XGBoost</a:t>
            </a:r>
            <a:r>
              <a:rPr lang="en-US" sz="2400">
                <a:latin typeface="Helvetica Neue Light"/>
                <a:ea typeface="Helvetica Neue Light"/>
                <a:cs typeface="Helvetica Neue Light"/>
                <a:sym typeface="Helvetica Neue Light"/>
              </a:rPr>
              <a:t> as model to remove columns with less importance. Selected top 18 columns for further training.</a:t>
            </a:r>
            <a:endParaRPr sz="2400">
              <a:latin typeface="Helvetica Neue Light"/>
              <a:ea typeface="Helvetica Neue Light"/>
              <a:cs typeface="Helvetica Neue Light"/>
              <a:sym typeface="Helvetica Neue Light"/>
            </a:endParaRPr>
          </a:p>
          <a:p>
            <a:pPr marL="457200" lvl="0" indent="-381000" algn="l" rtl="0">
              <a:lnSpc>
                <a:spcPct val="155000"/>
              </a:lnSpc>
              <a:spcBef>
                <a:spcPts val="0"/>
              </a:spcBef>
              <a:spcAft>
                <a:spcPts val="0"/>
              </a:spcAft>
              <a:buSzPts val="2400"/>
              <a:buFont typeface="Helvetica Neue Light"/>
              <a:buChar char="●"/>
            </a:pPr>
            <a:r>
              <a:rPr lang="en-US" sz="2400">
                <a:latin typeface="Helvetica Neue Light"/>
                <a:ea typeface="Helvetica Neue Light"/>
                <a:cs typeface="Helvetica Neue Light"/>
                <a:sym typeface="Helvetica Neue Light"/>
              </a:rPr>
              <a:t>Splitted the data into two parts. One for training (80%) and the other for testing (20%).</a:t>
            </a:r>
            <a:endParaRPr sz="24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41dfefe2eb_0_0"/>
          <p:cNvSpPr txBox="1">
            <a:spLocks noGrp="1"/>
          </p:cNvSpPr>
          <p:nvPr>
            <p:ph type="title"/>
          </p:nvPr>
        </p:nvSpPr>
        <p:spPr>
          <a:xfrm>
            <a:off x="541800" y="81350"/>
            <a:ext cx="10417500" cy="893400"/>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SzPts val="4000"/>
              <a:buNone/>
            </a:pPr>
            <a:r>
              <a:rPr lang="en-US"/>
              <a:t>Approach (2/2)</a:t>
            </a:r>
            <a:endParaRPr/>
          </a:p>
        </p:txBody>
      </p:sp>
      <p:sp>
        <p:nvSpPr>
          <p:cNvPr id="155" name="Google Shape;155;g341dfefe2eb_0_0"/>
          <p:cNvSpPr txBox="1"/>
          <p:nvPr/>
        </p:nvSpPr>
        <p:spPr>
          <a:xfrm>
            <a:off x="763050" y="1487400"/>
            <a:ext cx="10355100" cy="4669200"/>
          </a:xfrm>
          <a:prstGeom prst="rect">
            <a:avLst/>
          </a:prstGeom>
          <a:noFill/>
          <a:ln>
            <a:noFill/>
          </a:ln>
        </p:spPr>
        <p:txBody>
          <a:bodyPr spcFirstLastPara="1" wrap="square" lIns="91425" tIns="91425" rIns="91425" bIns="91425" anchor="t" anchorCtr="0">
            <a:noAutofit/>
          </a:bodyPr>
          <a:lstStyle/>
          <a:p>
            <a:pPr marL="457200" lvl="0" indent="-381000" algn="l" rtl="0">
              <a:lnSpc>
                <a:spcPct val="155000"/>
              </a:lnSpc>
              <a:spcBef>
                <a:spcPts val="0"/>
              </a:spcBef>
              <a:spcAft>
                <a:spcPts val="0"/>
              </a:spcAft>
              <a:buSzPts val="2400"/>
              <a:buFont typeface="Helvetica Neue Light"/>
              <a:buChar char="●"/>
            </a:pPr>
            <a:r>
              <a:rPr lang="en-US" sz="2200" dirty="0">
                <a:latin typeface="Helvetica Neue Light"/>
                <a:ea typeface="Helvetica Neue Light"/>
                <a:cs typeface="Helvetica Neue Light"/>
                <a:sym typeface="Helvetica Neue Light"/>
              </a:rPr>
              <a:t>Trained three models: linear regression, random forest regression, and </a:t>
            </a:r>
            <a:r>
              <a:rPr lang="en-US" sz="2200" dirty="0" err="1">
                <a:latin typeface="Helvetica Neue Light"/>
                <a:ea typeface="Helvetica Neue Light"/>
                <a:cs typeface="Helvetica Neue Light"/>
                <a:sym typeface="Helvetica Neue Light"/>
              </a:rPr>
              <a:t>XGBoost</a:t>
            </a:r>
            <a:r>
              <a:rPr lang="en-US" sz="2200" dirty="0">
                <a:latin typeface="Helvetica Neue Light"/>
                <a:ea typeface="Helvetica Neue Light"/>
                <a:cs typeface="Helvetica Neue Light"/>
                <a:sym typeface="Helvetica Neue Light"/>
              </a:rPr>
              <a:t> Regressor.</a:t>
            </a:r>
            <a:endParaRPr sz="2200" dirty="0">
              <a:latin typeface="Helvetica Neue Light"/>
              <a:ea typeface="Helvetica Neue Light"/>
              <a:cs typeface="Helvetica Neue Light"/>
              <a:sym typeface="Helvetica Neue Light"/>
            </a:endParaRPr>
          </a:p>
          <a:p>
            <a:pPr marL="457200" lvl="0" indent="-381000" algn="l" rtl="0">
              <a:lnSpc>
                <a:spcPct val="155000"/>
              </a:lnSpc>
              <a:spcBef>
                <a:spcPts val="0"/>
              </a:spcBef>
              <a:spcAft>
                <a:spcPts val="0"/>
              </a:spcAft>
              <a:buSzPts val="2400"/>
              <a:buFont typeface="Helvetica Neue Light"/>
              <a:buChar char="●"/>
            </a:pPr>
            <a:r>
              <a:rPr lang="en-US" sz="2200" dirty="0">
                <a:latin typeface="Helvetica Neue Light"/>
                <a:ea typeface="Helvetica Neue Light"/>
                <a:cs typeface="Helvetica Neue Light"/>
                <a:sym typeface="Helvetica Neue Light"/>
              </a:rPr>
              <a:t>Evaluated the performance of the three models using Mean Squared Error(</a:t>
            </a:r>
            <a:r>
              <a:rPr lang="en-US" sz="2200" dirty="0" err="1">
                <a:latin typeface="Helvetica Neue Light"/>
                <a:ea typeface="Helvetica Neue Light"/>
                <a:cs typeface="Helvetica Neue Light"/>
                <a:sym typeface="Helvetica Neue Light"/>
              </a:rPr>
              <a:t>MSE</a:t>
            </a:r>
            <a:r>
              <a:rPr lang="en-US" sz="2200" dirty="0">
                <a:latin typeface="Helvetica Neue Light"/>
                <a:ea typeface="Helvetica Neue Light"/>
                <a:cs typeface="Helvetica Neue Light"/>
                <a:sym typeface="Helvetica Neue Light"/>
              </a:rPr>
              <a:t>), Mean Absolute Error(MAE) and </a:t>
            </a:r>
            <a:r>
              <a:rPr lang="en-US" sz="2200" dirty="0" err="1">
                <a:solidFill>
                  <a:schemeClr val="dk1"/>
                </a:solidFill>
                <a:latin typeface="Helvetica Neue Light"/>
                <a:ea typeface="Helvetica Neue Light"/>
                <a:cs typeface="Helvetica Neue Light"/>
                <a:sym typeface="Helvetica Neue Light"/>
              </a:rPr>
              <a:t>R</a:t>
            </a:r>
            <a:r>
              <a:rPr lang="en-US" sz="2200" baseline="30000" dirty="0" err="1">
                <a:solidFill>
                  <a:schemeClr val="dk1"/>
                </a:solidFill>
                <a:latin typeface="Helvetica Neue Light"/>
                <a:ea typeface="Helvetica Neue Light"/>
                <a:cs typeface="Helvetica Neue Light"/>
                <a:sym typeface="Helvetica Neue Light"/>
              </a:rPr>
              <a:t>2</a:t>
            </a:r>
            <a:r>
              <a:rPr lang="en-US" sz="2200" dirty="0">
                <a:solidFill>
                  <a:schemeClr val="dk1"/>
                </a:solidFill>
                <a:latin typeface="Helvetica Neue Light"/>
                <a:ea typeface="Helvetica Neue Light"/>
                <a:cs typeface="Helvetica Neue Light"/>
                <a:sym typeface="Helvetica Neue Light"/>
              </a:rPr>
              <a:t> score. Out of the three models </a:t>
            </a:r>
            <a:r>
              <a:rPr lang="en-US" sz="2200" dirty="0" err="1">
                <a:solidFill>
                  <a:schemeClr val="dk1"/>
                </a:solidFill>
                <a:latin typeface="Helvetica Neue Light"/>
                <a:ea typeface="Helvetica Neue Light"/>
                <a:cs typeface="Helvetica Neue Light"/>
                <a:sym typeface="Helvetica Neue Light"/>
              </a:rPr>
              <a:t>XGBoost</a:t>
            </a:r>
            <a:r>
              <a:rPr lang="en-US" sz="2200" dirty="0">
                <a:solidFill>
                  <a:schemeClr val="dk1"/>
                </a:solidFill>
                <a:latin typeface="Helvetica Neue Light"/>
                <a:ea typeface="Helvetica Neue Light"/>
                <a:cs typeface="Helvetica Neue Light"/>
                <a:sym typeface="Helvetica Neue Light"/>
              </a:rPr>
              <a:t> regression performed the best with </a:t>
            </a:r>
            <a:r>
              <a:rPr lang="en-US" sz="2200" dirty="0" err="1">
                <a:solidFill>
                  <a:schemeClr val="dk1"/>
                </a:solidFill>
                <a:latin typeface="Helvetica Neue Light"/>
                <a:ea typeface="Helvetica Neue Light"/>
                <a:cs typeface="Helvetica Neue Light"/>
                <a:sym typeface="Helvetica Neue Light"/>
              </a:rPr>
              <a:t>R</a:t>
            </a:r>
            <a:r>
              <a:rPr lang="en-US" sz="2200" baseline="30000" dirty="0" err="1">
                <a:solidFill>
                  <a:schemeClr val="dk1"/>
                </a:solidFill>
                <a:latin typeface="Helvetica Neue Light"/>
                <a:ea typeface="Helvetica Neue Light"/>
                <a:cs typeface="Helvetica Neue Light"/>
                <a:sym typeface="Helvetica Neue Light"/>
              </a:rPr>
              <a:t>2</a:t>
            </a:r>
            <a:r>
              <a:rPr lang="en-US" sz="2200" baseline="30000" dirty="0">
                <a:solidFill>
                  <a:schemeClr val="dk1"/>
                </a:solidFill>
                <a:latin typeface="Helvetica Neue Light"/>
                <a:ea typeface="Helvetica Neue Light"/>
                <a:cs typeface="Helvetica Neue Light"/>
                <a:sym typeface="Helvetica Neue Light"/>
              </a:rPr>
              <a:t> </a:t>
            </a:r>
            <a:r>
              <a:rPr lang="en-US" sz="2200" dirty="0">
                <a:solidFill>
                  <a:schemeClr val="dk1"/>
                </a:solidFill>
                <a:latin typeface="Helvetica Neue Light"/>
                <a:ea typeface="Helvetica Neue Light"/>
                <a:cs typeface="Helvetica Neue Light"/>
                <a:sym typeface="Helvetica Neue Light"/>
              </a:rPr>
              <a:t>score of 0.91.</a:t>
            </a:r>
            <a:endParaRPr sz="2200" dirty="0">
              <a:solidFill>
                <a:schemeClr val="dk1"/>
              </a:solidFill>
              <a:latin typeface="Helvetica Neue Light"/>
              <a:ea typeface="Helvetica Neue Light"/>
              <a:cs typeface="Helvetica Neue Light"/>
              <a:sym typeface="Helvetica Neue Light"/>
            </a:endParaRPr>
          </a:p>
          <a:p>
            <a:pPr marL="457200" lvl="0" indent="-381000" algn="l" rtl="0">
              <a:lnSpc>
                <a:spcPct val="155000"/>
              </a:lnSpc>
              <a:spcBef>
                <a:spcPts val="0"/>
              </a:spcBef>
              <a:spcAft>
                <a:spcPts val="0"/>
              </a:spcAft>
              <a:buClr>
                <a:schemeClr val="dk1"/>
              </a:buClr>
              <a:buSzPts val="2400"/>
              <a:buFont typeface="Helvetica Neue Light"/>
              <a:buChar char="●"/>
            </a:pPr>
            <a:r>
              <a:rPr lang="en-US" sz="2200" dirty="0">
                <a:solidFill>
                  <a:schemeClr val="dk1"/>
                </a:solidFill>
                <a:latin typeface="Helvetica Neue Light"/>
                <a:ea typeface="Helvetica Neue Light"/>
                <a:cs typeface="Helvetica Neue Light"/>
                <a:sym typeface="Helvetica Neue Light"/>
              </a:rPr>
              <a:t>Performed a </a:t>
            </a:r>
            <a:r>
              <a:rPr lang="en-US" sz="2200" dirty="0" err="1">
                <a:solidFill>
                  <a:schemeClr val="dk1"/>
                </a:solidFill>
                <a:latin typeface="Helvetica Neue Light"/>
                <a:ea typeface="Helvetica Neue Light"/>
                <a:cs typeface="Helvetica Neue Light"/>
                <a:sym typeface="Helvetica Neue Light"/>
              </a:rPr>
              <a:t>SHAP</a:t>
            </a:r>
            <a:r>
              <a:rPr lang="en-US" sz="2200" dirty="0">
                <a:solidFill>
                  <a:schemeClr val="dk1"/>
                </a:solidFill>
                <a:latin typeface="Helvetica Neue Light"/>
                <a:ea typeface="Helvetica Neue Light"/>
                <a:cs typeface="Helvetica Neue Light"/>
                <a:sym typeface="Helvetica Neue Light"/>
              </a:rPr>
              <a:t> analysis to analyze the importance of features in the </a:t>
            </a:r>
            <a:r>
              <a:rPr lang="en-US" sz="2200" dirty="0" err="1">
                <a:solidFill>
                  <a:schemeClr val="dk1"/>
                </a:solidFill>
                <a:latin typeface="Helvetica Neue Light"/>
                <a:ea typeface="Helvetica Neue Light"/>
                <a:cs typeface="Helvetica Neue Light"/>
                <a:sym typeface="Helvetica Neue Light"/>
              </a:rPr>
              <a:t>XGBoost</a:t>
            </a:r>
            <a:r>
              <a:rPr lang="en-US" sz="2200" dirty="0">
                <a:solidFill>
                  <a:schemeClr val="dk1"/>
                </a:solidFill>
                <a:latin typeface="Helvetica Neue Light"/>
                <a:ea typeface="Helvetica Neue Light"/>
                <a:cs typeface="Helvetica Neue Light"/>
                <a:sym typeface="Helvetica Neue Light"/>
              </a:rPr>
              <a:t> Regressor model. Choose the top 12 features based on their importance and retrained the model to get the same </a:t>
            </a:r>
            <a:r>
              <a:rPr lang="en-US" sz="2200" dirty="0" err="1">
                <a:solidFill>
                  <a:schemeClr val="dk1"/>
                </a:solidFill>
                <a:latin typeface="Helvetica Neue Light"/>
                <a:ea typeface="Helvetica Neue Light"/>
                <a:cs typeface="Helvetica Neue Light"/>
                <a:sym typeface="Helvetica Neue Light"/>
              </a:rPr>
              <a:t>R</a:t>
            </a:r>
            <a:r>
              <a:rPr lang="en-US" sz="2200" baseline="30000" dirty="0" err="1">
                <a:solidFill>
                  <a:schemeClr val="dk1"/>
                </a:solidFill>
                <a:latin typeface="Helvetica Neue Light"/>
                <a:ea typeface="Helvetica Neue Light"/>
                <a:cs typeface="Helvetica Neue Light"/>
                <a:sym typeface="Helvetica Neue Light"/>
              </a:rPr>
              <a:t>2</a:t>
            </a:r>
            <a:r>
              <a:rPr lang="en-US" sz="2200" baseline="30000" dirty="0">
                <a:solidFill>
                  <a:schemeClr val="dk1"/>
                </a:solidFill>
                <a:latin typeface="Helvetica Neue Light"/>
                <a:ea typeface="Helvetica Neue Light"/>
                <a:cs typeface="Helvetica Neue Light"/>
                <a:sym typeface="Helvetica Neue Light"/>
              </a:rPr>
              <a:t> </a:t>
            </a:r>
            <a:r>
              <a:rPr lang="en-US" sz="2200" dirty="0">
                <a:solidFill>
                  <a:schemeClr val="dk1"/>
                </a:solidFill>
                <a:latin typeface="Helvetica Neue Light"/>
                <a:ea typeface="Helvetica Neue Light"/>
                <a:cs typeface="Helvetica Neue Light"/>
                <a:sym typeface="Helvetica Neue Light"/>
              </a:rPr>
              <a:t>score of 0.91.</a:t>
            </a:r>
            <a:endParaRPr sz="2200" dirty="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340ec16cb0e_0_59"/>
          <p:cNvSpPr txBox="1">
            <a:spLocks noGrp="1"/>
          </p:cNvSpPr>
          <p:nvPr>
            <p:ph type="title"/>
          </p:nvPr>
        </p:nvSpPr>
        <p:spPr>
          <a:xfrm>
            <a:off x="594300" y="266700"/>
            <a:ext cx="10515600" cy="591900"/>
          </a:xfrm>
          <a:prstGeom prst="rect">
            <a:avLst/>
          </a:prstGeom>
        </p:spPr>
        <p:txBody>
          <a:bodyPr spcFirstLastPara="1" wrap="square" lIns="45700" tIns="45700" rIns="45700" bIns="45700" anchor="b" anchorCtr="0">
            <a:normAutofit fontScale="90000"/>
          </a:bodyPr>
          <a:lstStyle/>
          <a:p>
            <a:pPr marL="0" lvl="0" indent="0" algn="l" rtl="0">
              <a:spcBef>
                <a:spcPts val="0"/>
              </a:spcBef>
              <a:spcAft>
                <a:spcPts val="0"/>
              </a:spcAft>
              <a:buNone/>
            </a:pPr>
            <a:r>
              <a:rPr lang="en-US"/>
              <a:t>Results</a:t>
            </a:r>
            <a:endParaRPr/>
          </a:p>
        </p:txBody>
      </p:sp>
      <p:sp>
        <p:nvSpPr>
          <p:cNvPr id="161" name="Google Shape;161;g340ec16cb0e_0_59"/>
          <p:cNvSpPr txBox="1">
            <a:spLocks noGrp="1"/>
          </p:cNvSpPr>
          <p:nvPr>
            <p:ph type="body" idx="1"/>
          </p:nvPr>
        </p:nvSpPr>
        <p:spPr>
          <a:xfrm>
            <a:off x="582425" y="858600"/>
            <a:ext cx="10515600" cy="5261400"/>
          </a:xfrm>
          <a:prstGeom prst="rect">
            <a:avLst/>
          </a:prstGeom>
        </p:spPr>
        <p:txBody>
          <a:bodyPr spcFirstLastPara="1" wrap="square" lIns="45700" tIns="45700" rIns="45700" bIns="45700" anchor="t" anchorCtr="0">
            <a:normAutofit/>
          </a:bodyPr>
          <a:lstStyle/>
          <a:p>
            <a:pPr marL="0" lvl="0" indent="0" algn="l" rtl="0">
              <a:spcBef>
                <a:spcPts val="1000"/>
              </a:spcBef>
              <a:spcAft>
                <a:spcPts val="0"/>
              </a:spcAft>
              <a:buNone/>
            </a:pPr>
            <a:r>
              <a:rPr lang="en-US"/>
              <a:t>Initial Correlation Matrix</a:t>
            </a:r>
            <a:endParaRPr/>
          </a:p>
        </p:txBody>
      </p:sp>
      <p:pic>
        <p:nvPicPr>
          <p:cNvPr id="162" name="Google Shape;162;g340ec16cb0e_0_59"/>
          <p:cNvPicPr preferRelativeResize="0"/>
          <p:nvPr/>
        </p:nvPicPr>
        <p:blipFill>
          <a:blip r:embed="rId3">
            <a:alphaModFix/>
          </a:blip>
          <a:stretch>
            <a:fillRect/>
          </a:stretch>
        </p:blipFill>
        <p:spPr>
          <a:xfrm>
            <a:off x="2703225" y="1358525"/>
            <a:ext cx="6398201" cy="52113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40ec16cb0e_0_65"/>
          <p:cNvSpPr txBox="1">
            <a:spLocks noGrp="1"/>
          </p:cNvSpPr>
          <p:nvPr>
            <p:ph type="title"/>
          </p:nvPr>
        </p:nvSpPr>
        <p:spPr>
          <a:xfrm>
            <a:off x="594300" y="266700"/>
            <a:ext cx="10515600" cy="591900"/>
          </a:xfrm>
          <a:prstGeom prst="rect">
            <a:avLst/>
          </a:prstGeom>
        </p:spPr>
        <p:txBody>
          <a:bodyPr spcFirstLastPara="1" wrap="square" lIns="45700" tIns="45700" rIns="45700" bIns="45700" anchor="b" anchorCtr="0">
            <a:normAutofit fontScale="90000"/>
          </a:bodyPr>
          <a:lstStyle/>
          <a:p>
            <a:pPr marL="0" lvl="0" indent="0" algn="l" rtl="0">
              <a:spcBef>
                <a:spcPts val="0"/>
              </a:spcBef>
              <a:spcAft>
                <a:spcPts val="0"/>
              </a:spcAft>
              <a:buNone/>
            </a:pPr>
            <a:r>
              <a:rPr lang="en-US"/>
              <a:t>Results</a:t>
            </a:r>
            <a:endParaRPr/>
          </a:p>
        </p:txBody>
      </p:sp>
      <p:sp>
        <p:nvSpPr>
          <p:cNvPr id="168" name="Google Shape;168;g340ec16cb0e_0_65"/>
          <p:cNvSpPr txBox="1">
            <a:spLocks noGrp="1"/>
          </p:cNvSpPr>
          <p:nvPr>
            <p:ph type="body" idx="1"/>
          </p:nvPr>
        </p:nvSpPr>
        <p:spPr>
          <a:xfrm>
            <a:off x="582425" y="858600"/>
            <a:ext cx="10515600" cy="5261400"/>
          </a:xfrm>
          <a:prstGeom prst="rect">
            <a:avLst/>
          </a:prstGeom>
        </p:spPr>
        <p:txBody>
          <a:bodyPr spcFirstLastPara="1" wrap="square" lIns="45700" tIns="45700" rIns="45700" bIns="45700" anchor="t" anchorCtr="0">
            <a:normAutofit/>
          </a:bodyPr>
          <a:lstStyle/>
          <a:p>
            <a:pPr marL="0" lvl="0" indent="0" algn="l" rtl="0">
              <a:spcBef>
                <a:spcPts val="1000"/>
              </a:spcBef>
              <a:spcAft>
                <a:spcPts val="0"/>
              </a:spcAft>
              <a:buNone/>
            </a:pPr>
            <a:r>
              <a:rPr lang="en-US"/>
              <a:t>Shap values  </a:t>
            </a:r>
            <a:endParaRPr/>
          </a:p>
        </p:txBody>
      </p:sp>
      <p:pic>
        <p:nvPicPr>
          <p:cNvPr id="169" name="Google Shape;169;g340ec16cb0e_0_65"/>
          <p:cNvPicPr preferRelativeResize="0"/>
          <p:nvPr/>
        </p:nvPicPr>
        <p:blipFill>
          <a:blip r:embed="rId3">
            <a:alphaModFix/>
          </a:blip>
          <a:stretch>
            <a:fillRect/>
          </a:stretch>
        </p:blipFill>
        <p:spPr>
          <a:xfrm>
            <a:off x="2899600" y="975425"/>
            <a:ext cx="6275851" cy="5637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40ec16cb0e_0_72"/>
          <p:cNvSpPr txBox="1">
            <a:spLocks noGrp="1"/>
          </p:cNvSpPr>
          <p:nvPr>
            <p:ph type="title"/>
          </p:nvPr>
        </p:nvSpPr>
        <p:spPr>
          <a:xfrm>
            <a:off x="594300" y="56325"/>
            <a:ext cx="10515600" cy="568200"/>
          </a:xfrm>
          <a:prstGeom prst="rect">
            <a:avLst/>
          </a:prstGeom>
        </p:spPr>
        <p:txBody>
          <a:bodyPr spcFirstLastPara="1" wrap="square" lIns="45700" tIns="45700" rIns="45700" bIns="45700" anchor="b" anchorCtr="0">
            <a:normAutofit fontScale="90000"/>
          </a:bodyPr>
          <a:lstStyle/>
          <a:p>
            <a:pPr marL="0" lvl="0" indent="0" algn="l" rtl="0">
              <a:spcBef>
                <a:spcPts val="0"/>
              </a:spcBef>
              <a:spcAft>
                <a:spcPts val="0"/>
              </a:spcAft>
              <a:buNone/>
            </a:pPr>
            <a:r>
              <a:rPr lang="en-US"/>
              <a:t>Results</a:t>
            </a:r>
            <a:endParaRPr/>
          </a:p>
        </p:txBody>
      </p:sp>
      <p:sp>
        <p:nvSpPr>
          <p:cNvPr id="175" name="Google Shape;175;g340ec16cb0e_0_72"/>
          <p:cNvSpPr txBox="1">
            <a:spLocks noGrp="1"/>
          </p:cNvSpPr>
          <p:nvPr>
            <p:ph type="body" idx="1"/>
          </p:nvPr>
        </p:nvSpPr>
        <p:spPr>
          <a:xfrm>
            <a:off x="582425" y="540975"/>
            <a:ext cx="10515600" cy="5579100"/>
          </a:xfrm>
          <a:prstGeom prst="rect">
            <a:avLst/>
          </a:prstGeom>
        </p:spPr>
        <p:txBody>
          <a:bodyPr spcFirstLastPara="1" wrap="square" lIns="45700" tIns="45700" rIns="45700" bIns="45700" anchor="t" anchorCtr="0">
            <a:normAutofit/>
          </a:bodyPr>
          <a:lstStyle/>
          <a:p>
            <a:pPr marL="0" lvl="0" indent="0" algn="l" rtl="0">
              <a:spcBef>
                <a:spcPts val="1000"/>
              </a:spcBef>
              <a:spcAft>
                <a:spcPts val="0"/>
              </a:spcAft>
              <a:buNone/>
            </a:pPr>
            <a:r>
              <a:rPr lang="en-US"/>
              <a:t>Final Correlation Matrix After Feature reduction </a:t>
            </a:r>
            <a:endParaRPr/>
          </a:p>
        </p:txBody>
      </p:sp>
      <p:pic>
        <p:nvPicPr>
          <p:cNvPr id="176" name="Google Shape;176;g340ec16cb0e_0_72"/>
          <p:cNvPicPr preferRelativeResize="0"/>
          <p:nvPr/>
        </p:nvPicPr>
        <p:blipFill>
          <a:blip r:embed="rId3">
            <a:alphaModFix/>
          </a:blip>
          <a:stretch>
            <a:fillRect/>
          </a:stretch>
        </p:blipFill>
        <p:spPr>
          <a:xfrm>
            <a:off x="1982556" y="1109175"/>
            <a:ext cx="8226888" cy="537133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407af7eea2_0_24"/>
          <p:cNvSpPr txBox="1"/>
          <p:nvPr/>
        </p:nvSpPr>
        <p:spPr>
          <a:xfrm>
            <a:off x="594300" y="942100"/>
            <a:ext cx="10515600" cy="4737000"/>
          </a:xfrm>
          <a:prstGeom prst="rect">
            <a:avLst/>
          </a:prstGeom>
          <a:noFill/>
          <a:ln>
            <a:noFill/>
          </a:ln>
        </p:spPr>
        <p:txBody>
          <a:bodyPr spcFirstLastPara="1" wrap="square" lIns="91425" tIns="91425" rIns="91425" bIns="91425" anchor="t" anchorCtr="0">
            <a:noAutofit/>
          </a:bodyPr>
          <a:lstStyle/>
          <a:p>
            <a:pPr marL="457200" lvl="0" indent="-381000" algn="l" rtl="0">
              <a:lnSpc>
                <a:spcPct val="125000"/>
              </a:lnSpc>
              <a:spcBef>
                <a:spcPts val="0"/>
              </a:spcBef>
              <a:spcAft>
                <a:spcPts val="0"/>
              </a:spcAft>
              <a:buSzPts val="2400"/>
              <a:buFont typeface="Helvetica Neue Light"/>
              <a:buChar char="●"/>
            </a:pPr>
            <a:r>
              <a:rPr lang="en-US" sz="2400">
                <a:latin typeface="Helvetica Neue Light"/>
                <a:ea typeface="Helvetica Neue Light"/>
                <a:cs typeface="Helvetica Neue Light"/>
                <a:sym typeface="Helvetica Neue Light"/>
              </a:rPr>
              <a:t>Use xAI techniques to understand the behavior of the model(XGBoost regressor in this case).</a:t>
            </a:r>
            <a:endParaRPr sz="2400">
              <a:latin typeface="Helvetica Neue Light"/>
              <a:ea typeface="Helvetica Neue Light"/>
              <a:cs typeface="Helvetica Neue Light"/>
              <a:sym typeface="Helvetica Neue Light"/>
            </a:endParaRPr>
          </a:p>
          <a:p>
            <a:pPr marL="457200" lvl="0" indent="-381000" algn="l" rtl="0">
              <a:lnSpc>
                <a:spcPct val="125000"/>
              </a:lnSpc>
              <a:spcBef>
                <a:spcPts val="0"/>
              </a:spcBef>
              <a:spcAft>
                <a:spcPts val="0"/>
              </a:spcAft>
              <a:buSzPts val="2400"/>
              <a:buFont typeface="Helvetica Neue Light"/>
              <a:buChar char="●"/>
            </a:pPr>
            <a:r>
              <a:rPr lang="en-US" sz="2400">
                <a:latin typeface="Helvetica Neue Light"/>
                <a:ea typeface="Helvetica Neue Light"/>
                <a:cs typeface="Helvetica Neue Light"/>
                <a:sym typeface="Helvetica Neue Light"/>
              </a:rPr>
              <a:t>Permutation importance is one such xAI technique which helps evaluate the importance of particular feature by computing the drop/gain in RSImod prediction performance metric(</a:t>
            </a:r>
            <a:r>
              <a:rPr lang="en-US" sz="2200">
                <a:solidFill>
                  <a:schemeClr val="dk1"/>
                </a:solidFill>
                <a:latin typeface="Helvetica Neue Light"/>
                <a:ea typeface="Helvetica Neue Light"/>
                <a:cs typeface="Helvetica Neue Light"/>
                <a:sym typeface="Helvetica Neue Light"/>
              </a:rPr>
              <a:t>R</a:t>
            </a:r>
            <a:r>
              <a:rPr lang="en-US" sz="2200" baseline="30000">
                <a:solidFill>
                  <a:schemeClr val="dk1"/>
                </a:solidFill>
                <a:latin typeface="Helvetica Neue Light"/>
                <a:ea typeface="Helvetica Neue Light"/>
                <a:cs typeface="Helvetica Neue Light"/>
                <a:sym typeface="Helvetica Neue Light"/>
              </a:rPr>
              <a:t>2</a:t>
            </a:r>
            <a:r>
              <a:rPr lang="en-US" sz="2200">
                <a:solidFill>
                  <a:schemeClr val="dk1"/>
                </a:solidFill>
                <a:latin typeface="Helvetica Neue Light"/>
                <a:ea typeface="Helvetica Neue Light"/>
                <a:cs typeface="Helvetica Neue Light"/>
                <a:sym typeface="Helvetica Neue Light"/>
              </a:rPr>
              <a:t> score</a:t>
            </a:r>
            <a:r>
              <a:rPr lang="en-US" sz="2400">
                <a:latin typeface="Helvetica Neue Light"/>
                <a:ea typeface="Helvetica Neue Light"/>
                <a:cs typeface="Helvetica Neue Light"/>
                <a:sym typeface="Helvetica Neue Light"/>
              </a:rPr>
              <a:t>), if the values in that column is randomly shuffled.</a:t>
            </a:r>
            <a:endParaRPr sz="2400">
              <a:latin typeface="Helvetica Neue Light"/>
              <a:ea typeface="Helvetica Neue Light"/>
              <a:cs typeface="Helvetica Neue Light"/>
              <a:sym typeface="Helvetica Neue Light"/>
            </a:endParaRPr>
          </a:p>
          <a:p>
            <a:pPr marL="457200" lvl="0" indent="-381000" algn="l" rtl="0">
              <a:lnSpc>
                <a:spcPct val="125000"/>
              </a:lnSpc>
              <a:spcBef>
                <a:spcPts val="0"/>
              </a:spcBef>
              <a:spcAft>
                <a:spcPts val="0"/>
              </a:spcAft>
              <a:buSzPts val="2400"/>
              <a:buFont typeface="Helvetica Neue Light"/>
              <a:buChar char="●"/>
            </a:pPr>
            <a:r>
              <a:rPr lang="en-US" sz="2400">
                <a:latin typeface="Helvetica Neue Light"/>
                <a:ea typeface="Helvetica Neue Light"/>
                <a:cs typeface="Helvetica Neue Light"/>
                <a:sym typeface="Helvetica Neue Light"/>
              </a:rPr>
              <a:t>LIME (</a:t>
            </a:r>
            <a:r>
              <a:rPr lang="en-US" sz="2400">
                <a:solidFill>
                  <a:schemeClr val="dk1"/>
                </a:solidFill>
                <a:latin typeface="Helvetica Neue Light"/>
                <a:ea typeface="Helvetica Neue Light"/>
                <a:cs typeface="Helvetica Neue Light"/>
                <a:sym typeface="Helvetica Neue Light"/>
              </a:rPr>
              <a:t>Local Interpretable Model-agnostic Explanations</a:t>
            </a:r>
            <a:r>
              <a:rPr lang="en-US" sz="2400">
                <a:latin typeface="Helvetica Neue Light"/>
                <a:ea typeface="Helvetica Neue Light"/>
                <a:cs typeface="Helvetica Neue Light"/>
                <a:sym typeface="Helvetica Neue Light"/>
              </a:rPr>
              <a:t>) is another such xAI technique which helps analyzing how increase and decrease of a particular feature affects the RSImod.</a:t>
            </a:r>
            <a:endParaRPr sz="2400">
              <a:latin typeface="Helvetica Neue Light"/>
              <a:ea typeface="Helvetica Neue Light"/>
              <a:cs typeface="Helvetica Neue Light"/>
              <a:sym typeface="Helvetica Neue Light"/>
            </a:endParaRPr>
          </a:p>
          <a:p>
            <a:pPr marL="457200" lvl="0" indent="-381000" algn="l" rtl="0">
              <a:lnSpc>
                <a:spcPct val="125000"/>
              </a:lnSpc>
              <a:spcBef>
                <a:spcPts val="0"/>
              </a:spcBef>
              <a:spcAft>
                <a:spcPts val="0"/>
              </a:spcAft>
              <a:buSzPts val="2400"/>
              <a:buFont typeface="Helvetica Neue Light"/>
              <a:buChar char="●"/>
            </a:pPr>
            <a:r>
              <a:rPr lang="en-US" sz="2400">
                <a:latin typeface="Helvetica Neue Light"/>
                <a:ea typeface="Helvetica Neue Light"/>
                <a:cs typeface="Helvetica Neue Light"/>
                <a:sym typeface="Helvetica Neue Light"/>
              </a:rPr>
              <a:t>Report findings using Generic based approach.</a:t>
            </a:r>
            <a:endParaRPr sz="2400">
              <a:latin typeface="Helvetica Neue Light"/>
              <a:ea typeface="Helvetica Neue Light"/>
              <a:cs typeface="Helvetica Neue Light"/>
              <a:sym typeface="Helvetica Neue Light"/>
            </a:endParaRPr>
          </a:p>
        </p:txBody>
      </p:sp>
      <p:sp>
        <p:nvSpPr>
          <p:cNvPr id="182" name="Google Shape;182;g3407af7eea2_0_24"/>
          <p:cNvSpPr txBox="1">
            <a:spLocks noGrp="1"/>
          </p:cNvSpPr>
          <p:nvPr>
            <p:ph type="title"/>
          </p:nvPr>
        </p:nvSpPr>
        <p:spPr>
          <a:xfrm>
            <a:off x="594300" y="56325"/>
            <a:ext cx="10515600" cy="768900"/>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SzPts val="4000"/>
              <a:buNone/>
            </a:pPr>
            <a:r>
              <a:rPr lang="en-US"/>
              <a:t>Future Work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title"/>
          </p:nvPr>
        </p:nvSpPr>
        <p:spPr>
          <a:xfrm>
            <a:off x="594300" y="266700"/>
            <a:ext cx="10515600" cy="882600"/>
          </a:xfrm>
          <a:prstGeom prst="rect">
            <a:avLst/>
          </a:prstGeom>
          <a:noFill/>
          <a:ln>
            <a:noFill/>
          </a:ln>
        </p:spPr>
        <p:txBody>
          <a:bodyPr spcFirstLastPara="1" wrap="square" lIns="45700" tIns="45700" rIns="45700" bIns="45700" anchor="b" anchorCtr="0">
            <a:normAutofit/>
          </a:bodyPr>
          <a:lstStyle/>
          <a:p>
            <a:pPr marL="0" lvl="0" indent="0" algn="l" rtl="0">
              <a:lnSpc>
                <a:spcPct val="90000"/>
              </a:lnSpc>
              <a:spcBef>
                <a:spcPts val="0"/>
              </a:spcBef>
              <a:spcAft>
                <a:spcPts val="0"/>
              </a:spcAft>
              <a:buClr>
                <a:srgbClr val="000000"/>
              </a:buClr>
              <a:buSzPts val="4000"/>
              <a:buFont typeface="Helvetica Neue"/>
              <a:buNone/>
            </a:pPr>
            <a:r>
              <a:rPr lang="en-US" sz="4000">
                <a:solidFill>
                  <a:srgbClr val="000000"/>
                </a:solidFill>
              </a:rPr>
              <a:t>References</a:t>
            </a:r>
            <a:endParaRPr/>
          </a:p>
        </p:txBody>
      </p:sp>
      <p:sp>
        <p:nvSpPr>
          <p:cNvPr id="188" name="Google Shape;188;p10"/>
          <p:cNvSpPr txBox="1">
            <a:spLocks noGrp="1"/>
          </p:cNvSpPr>
          <p:nvPr>
            <p:ph type="body" idx="1"/>
          </p:nvPr>
        </p:nvSpPr>
        <p:spPr>
          <a:xfrm>
            <a:off x="582425" y="1305489"/>
            <a:ext cx="10515600" cy="4814700"/>
          </a:xfrm>
          <a:prstGeom prst="rect">
            <a:avLst/>
          </a:prstGeom>
          <a:noFill/>
          <a:ln>
            <a:noFill/>
          </a:ln>
        </p:spPr>
        <p:txBody>
          <a:bodyPr spcFirstLastPara="1" wrap="square" lIns="45700" tIns="45700" rIns="45700" bIns="45700" anchor="t" anchorCtr="0">
            <a:noAutofit/>
          </a:bodyPr>
          <a:lstStyle/>
          <a:p>
            <a:pPr marL="457200" lvl="0" indent="-336550" algn="l" rtl="0">
              <a:lnSpc>
                <a:spcPct val="120000"/>
              </a:lnSpc>
              <a:spcBef>
                <a:spcPts val="1000"/>
              </a:spcBef>
              <a:spcAft>
                <a:spcPts val="0"/>
              </a:spcAft>
              <a:buSzPts val="1700"/>
              <a:buAutoNum type="arabicPeriod"/>
            </a:pPr>
            <a:r>
              <a:rPr lang="en-US" sz="1700"/>
              <a:t>Senbel, S., Sharma, S., Raval, M. S., Taber, C., Nolan, J., Artan, N. S., ... &amp; Kaya, T. (2022). Impact of sleep and training on game performance and injury in division-1 women’s Basketball Amidst the Pandemic. Ieee Access, 10, 15516-15527. </a:t>
            </a:r>
            <a:r>
              <a:rPr lang="en-US" sz="1700" u="sng">
                <a:solidFill>
                  <a:schemeClr val="hlink"/>
                </a:solidFill>
                <a:hlinkClick r:id="rId3"/>
              </a:rPr>
              <a:t>https://ieeexplore.ieee.org/abstract/document/9690164/</a:t>
            </a:r>
            <a:endParaRPr sz="1700"/>
          </a:p>
          <a:p>
            <a:pPr marL="457200" lvl="0" indent="0" algn="l" rtl="0">
              <a:lnSpc>
                <a:spcPct val="120000"/>
              </a:lnSpc>
              <a:spcBef>
                <a:spcPts val="1000"/>
              </a:spcBef>
              <a:spcAft>
                <a:spcPts val="0"/>
              </a:spcAft>
              <a:buSzPts val="688"/>
              <a:buNone/>
            </a:pPr>
            <a:endParaRPr sz="1700"/>
          </a:p>
          <a:p>
            <a:pPr marL="457200" lvl="0" indent="-336550" algn="l" rtl="0">
              <a:lnSpc>
                <a:spcPct val="120000"/>
              </a:lnSpc>
              <a:spcBef>
                <a:spcPts val="1000"/>
              </a:spcBef>
              <a:spcAft>
                <a:spcPts val="0"/>
              </a:spcAft>
              <a:buSzPts val="1700"/>
              <a:buAutoNum type="arabicPeriod"/>
            </a:pPr>
            <a:r>
              <a:rPr lang="en-US" sz="1700"/>
              <a:t>Taber, C.B., Sharma, S., Raval, M.S. et al. A holistic approach to performance prediction in collegiate athletics: player, team, and conference perspectives. Sci Rep 14, 1162 (2024). </a:t>
            </a:r>
            <a:r>
              <a:rPr lang="en-US" sz="1700" u="sng">
                <a:solidFill>
                  <a:schemeClr val="hlink"/>
                </a:solidFill>
                <a:hlinkClick r:id="rId4"/>
              </a:rPr>
              <a:t>https://doi.org/10.1038/s41598-024-51658-8</a:t>
            </a:r>
            <a:endParaRPr sz="1700"/>
          </a:p>
          <a:p>
            <a:pPr marL="457200" lvl="0" indent="0" algn="l" rtl="0">
              <a:lnSpc>
                <a:spcPct val="120000"/>
              </a:lnSpc>
              <a:spcBef>
                <a:spcPts val="1000"/>
              </a:spcBef>
              <a:spcAft>
                <a:spcPts val="0"/>
              </a:spcAft>
              <a:buSzPts val="688"/>
              <a:buNone/>
            </a:pPr>
            <a:endParaRPr sz="1700"/>
          </a:p>
          <a:p>
            <a:pPr marL="457200" lvl="0" indent="-336550" algn="l" rtl="0">
              <a:lnSpc>
                <a:spcPct val="120000"/>
              </a:lnSpc>
              <a:spcBef>
                <a:spcPts val="1000"/>
              </a:spcBef>
              <a:spcAft>
                <a:spcPts val="0"/>
              </a:spcAft>
              <a:buSzPts val="1700"/>
              <a:buAutoNum type="arabicPeriod"/>
            </a:pPr>
            <a:r>
              <a:rPr lang="en-US" sz="1700"/>
              <a:t>Sharma, S. U., Divakaran, S., Kaya, T., &amp; Raval, M. (2022, July). A Hybrid Approach for Interpretable Game Performance Prediction in Basketball. In 2022 International Joint Conference on Neural Networks (IJCNN) (pp. 01-08). IEEE.  </a:t>
            </a:r>
            <a:r>
              <a:rPr lang="en-US" sz="1700" u="sng">
                <a:solidFill>
                  <a:schemeClr val="hlink"/>
                </a:solidFill>
                <a:hlinkClick r:id="rId5"/>
              </a:rPr>
              <a:t>https://ieeexplore.ieee.org/abstract/document/9892583/?casa_token=Ye3GQJ1JpD0AAAAA:GSlyds24pIa__7Od6UBSNs8nugbEwLvCbI8vG6w-YMYrFX2O-TUlUDo4xej3ulJUAvmO_4ij0J36</a:t>
            </a:r>
            <a:endParaRPr sz="1700"/>
          </a:p>
          <a:p>
            <a:pPr marL="914400" lvl="0" indent="0" algn="l" rtl="0">
              <a:lnSpc>
                <a:spcPct val="80000"/>
              </a:lnSpc>
              <a:spcBef>
                <a:spcPts val="1000"/>
              </a:spcBef>
              <a:spcAft>
                <a:spcPts val="0"/>
              </a:spcAft>
              <a:buSzPts val="688"/>
              <a:buNone/>
            </a:pPr>
            <a:r>
              <a:rPr lang="en-US" sz="1600"/>
              <a:t>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41642a7d87_3_3"/>
          <p:cNvSpPr txBox="1">
            <a:spLocks noGrp="1"/>
          </p:cNvSpPr>
          <p:nvPr>
            <p:ph type="title"/>
          </p:nvPr>
        </p:nvSpPr>
        <p:spPr>
          <a:xfrm>
            <a:off x="594303" y="266700"/>
            <a:ext cx="10515600" cy="1325700"/>
          </a:xfrm>
          <a:prstGeom prst="rect">
            <a:avLst/>
          </a:prstGeom>
        </p:spPr>
        <p:txBody>
          <a:bodyPr spcFirstLastPara="1" wrap="square" lIns="45700" tIns="45700" rIns="45700" bIns="45700" anchor="b" anchorCtr="0">
            <a:normAutofit/>
          </a:bodyPr>
          <a:lstStyle/>
          <a:p>
            <a:pPr marL="0" lvl="0" indent="0" algn="l" rtl="0">
              <a:spcBef>
                <a:spcPts val="0"/>
              </a:spcBef>
              <a:spcAft>
                <a:spcPts val="0"/>
              </a:spcAft>
              <a:buNone/>
            </a:pPr>
            <a:endParaRPr/>
          </a:p>
        </p:txBody>
      </p:sp>
      <p:sp>
        <p:nvSpPr>
          <p:cNvPr id="194" name="Google Shape;194;g341642a7d87_3_3"/>
          <p:cNvSpPr txBox="1">
            <a:spLocks noGrp="1"/>
          </p:cNvSpPr>
          <p:nvPr>
            <p:ph type="body" idx="1"/>
          </p:nvPr>
        </p:nvSpPr>
        <p:spPr>
          <a:xfrm>
            <a:off x="582425" y="266700"/>
            <a:ext cx="10515600" cy="5853300"/>
          </a:xfrm>
          <a:prstGeom prst="rect">
            <a:avLst/>
          </a:prstGeom>
        </p:spPr>
        <p:txBody>
          <a:bodyPr spcFirstLastPara="1" wrap="square" lIns="45700" tIns="45700" rIns="45700" bIns="45700" anchor="ctr" anchorCtr="0">
            <a:normAutofit/>
          </a:bodyPr>
          <a:lstStyle/>
          <a:p>
            <a:pPr marL="0" lvl="0" indent="0" algn="ctr" rtl="0">
              <a:spcBef>
                <a:spcPts val="1000"/>
              </a:spcBef>
              <a:spcAft>
                <a:spcPts val="0"/>
              </a:spcAft>
              <a:buNone/>
            </a:pPr>
            <a:r>
              <a:rPr lang="en-US" sz="5200" b="1">
                <a:latin typeface="Helvetica Neue"/>
                <a:ea typeface="Helvetica Neue"/>
                <a:cs typeface="Helvetica Neue"/>
                <a:sym typeface="Helvetica Neue"/>
              </a:rPr>
              <a:t>Thank You</a:t>
            </a:r>
            <a:endParaRPr sz="5200" b="1">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2F1EE"/>
      </a:lt1>
      <a:dk2>
        <a:srgbClr val="A7A7A7"/>
      </a:dk2>
      <a:lt2>
        <a:srgbClr val="535353"/>
      </a:lt2>
      <a:accent1>
        <a:srgbClr val="894C00"/>
      </a:accent1>
      <a:accent2>
        <a:srgbClr val="7F4700"/>
      </a:accent2>
      <a:accent3>
        <a:srgbClr val="A5A5A5"/>
      </a:accent3>
      <a:accent4>
        <a:srgbClr val="BC933E"/>
      </a:accent4>
      <a:accent5>
        <a:srgbClr val="707070"/>
      </a:accent5>
      <a:accent6>
        <a:srgbClr val="FEFFFF"/>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894C00"/>
      </a:accent1>
      <a:accent2>
        <a:srgbClr val="7F4700"/>
      </a:accent2>
      <a:accent3>
        <a:srgbClr val="A5A5A5"/>
      </a:accent3>
      <a:accent4>
        <a:srgbClr val="BC933E"/>
      </a:accent4>
      <a:accent5>
        <a:srgbClr val="707070"/>
      </a:accent5>
      <a:accent6>
        <a:srgbClr val="FEFFFF"/>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1329</Words>
  <Application>Microsoft Office PowerPoint</Application>
  <PresentationFormat>Widescreen</PresentationFormat>
  <Paragraphs>154</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Helvetica Neue</vt:lpstr>
      <vt:lpstr>Arial</vt:lpstr>
      <vt:lpstr>Times New Roman</vt:lpstr>
      <vt:lpstr>Calibri</vt:lpstr>
      <vt:lpstr>Helvetica Neue Light</vt:lpstr>
      <vt:lpstr>Office Theme</vt:lpstr>
      <vt:lpstr>CSE623 Machine Learning Theory and Practice TheOverFitters  </vt:lpstr>
      <vt:lpstr>Content</vt:lpstr>
      <vt:lpstr>Introduction</vt:lpstr>
      <vt:lpstr>Problem Statement</vt:lpstr>
      <vt:lpstr>Literature Survey</vt:lpstr>
      <vt:lpstr>Dataset Discussion</vt:lpstr>
      <vt:lpstr>Dataset Discussion</vt:lpstr>
      <vt:lpstr>Approach (1/2)</vt:lpstr>
      <vt:lpstr>Approach (2/2)</vt:lpstr>
      <vt:lpstr>Results</vt:lpstr>
      <vt:lpstr>Results</vt:lpstr>
      <vt:lpstr>Results</vt:lpstr>
      <vt:lpstr>Future Work</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Yash Smart</cp:lastModifiedBy>
  <cp:revision>1</cp:revision>
  <dcterms:modified xsi:type="dcterms:W3CDTF">2025-03-19T16:51:57Z</dcterms:modified>
</cp:coreProperties>
</file>